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3593591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INDABA 2026  ·  3-HOUR CODE-ALONG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3F1E9"/>
                </a:solidFill>
                <a:latin typeface="Avenir Next"/>
              </a:rPr>
              <a:t>Automating Data Pipelines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3F1E9"/>
                </a:solidFill>
                <a:latin typeface="Avenir Next"/>
              </a:rPr>
              <a:t>with </a:t>
            </a:r>
            <a:r>
              <a:rPr sz="5400" b="1" i="0">
                <a:solidFill>
                  <a:srgbClr val="54D17A"/>
                </a:solidFill>
                <a:latin typeface="Avenir Next"/>
              </a:rP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310128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FB3A6"/>
                </a:solidFill>
                <a:latin typeface="Avenir Next"/>
              </a:rPr>
              <a:t>Take a year of messy agrivoltaics sensor logs and turn them into one trustworthy answer — with a single 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434840"/>
            <a:ext cx="1554480" cy="603504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45171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C948"/>
                </a:solidFill>
                <a:latin typeface="Avenir Nex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4709159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F1E9"/>
                </a:solidFill>
                <a:latin typeface="Avenir Next"/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3703" y="45537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C948"/>
                </a:solidFill>
                <a:latin typeface="Avenir Nex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4434840"/>
            <a:ext cx="1554480" cy="603504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70048" y="45171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C948"/>
                </a:solidFill>
                <a:latin typeface="Avenir Nex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4709159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F1E9"/>
                </a:solidFill>
                <a:latin typeface="Avenir Next"/>
              </a:rPr>
              <a:t>RESHAPE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45537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C948"/>
                </a:solidFill>
                <a:latin typeface="Avenir Nex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4434840"/>
            <a:ext cx="1554480" cy="603504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45171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C948"/>
                </a:solidFill>
                <a:latin typeface="Avenir Nex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4709159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F1E9"/>
                </a:solidFill>
                <a:latin typeface="Avenir Next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45537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C948"/>
                </a:solidFill>
                <a:latin typeface="Avenir Nex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4434840"/>
            <a:ext cx="1554480" cy="603504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5171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C948"/>
                </a:solidFill>
                <a:latin typeface="Avenir Nex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09159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F1E9"/>
                </a:solidFill>
                <a:latin typeface="Avenir Next"/>
              </a:rPr>
              <a:t>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45537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C948"/>
                </a:solidFill>
                <a:latin typeface="Avenir Nex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4434840"/>
            <a:ext cx="1554480" cy="603504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6175" y="45171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C948"/>
                </a:solidFill>
                <a:latin typeface="Avenir Next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4709159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F1E9"/>
                </a:solidFill>
                <a:latin typeface="Avenir Next"/>
              </a:rP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7" y="45537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C948"/>
                </a:solidFill>
                <a:latin typeface="Avenir Next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59" y="4434840"/>
            <a:ext cx="1554480" cy="603504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31551" y="45171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C948"/>
                </a:solidFill>
                <a:latin typeface="Avenir Next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1551" y="4709159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F1E9"/>
                </a:solidFill>
                <a:latin typeface="Avenir Next"/>
              </a:rPr>
              <a:t>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3A6"/>
                </a:solidFill>
                <a:latin typeface="Avenir Next"/>
              </a:rPr>
              <a:t>Agrivoltaic Dataset Ghana  ·  Responsible AI Lab, KNUST  ·  FAIR Forward  ·  CC-BY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633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Meet Ama and her agrivoltaics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A real research question, buried inside a pile of messy spreadsheets.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4206240" cy="365760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06040"/>
            <a:ext cx="777240" cy="777240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F1E9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670048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3F1E9"/>
                </a:solidFill>
                <a:latin typeface="Avenir Next"/>
              </a:rPr>
              <a:t>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312724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KNUST researcher · Kumasi, Ghana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F7C948"/>
                </a:solidFill>
                <a:latin typeface="Avenir Next"/>
              </a:rPr>
              <a:t>HER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41648"/>
            <a:ext cx="3657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F3F1E9"/>
                </a:solidFill>
                <a:latin typeface="Avenir Next"/>
              </a:rPr>
              <a:t>Do the raised solar panels keep the crops cooler — while still generating power?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331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20">
                <a:solidFill>
                  <a:srgbClr val="9FB3A6"/>
                </a:solidFill>
                <a:latin typeface="Avenir Next"/>
              </a:rPr>
              <a:t>WHAT SHE ACTUALLY HAS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697480"/>
            <a:ext cx="1911096" cy="548640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0952" y="2779776"/>
            <a:ext cx="16367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4D17A"/>
                </a:solidFill>
                <a:latin typeface="Avenir Next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971800"/>
            <a:ext cx="16367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F1E9"/>
                </a:solidFill>
                <a:latin typeface="Avenir Next"/>
              </a:rPr>
              <a:t>5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788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4D17A"/>
                </a:solidFill>
                <a:latin typeface="Avenir Nex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88352" y="2697480"/>
            <a:ext cx="1911096" cy="548640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52944" y="2779776"/>
            <a:ext cx="16367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4D17A"/>
                </a:solidFill>
                <a:latin typeface="Avenir Next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971800"/>
            <a:ext cx="16367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F1E9"/>
                </a:solidFill>
                <a:latin typeface="Avenir Next"/>
              </a:rPr>
              <a:t>~150 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7889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4D17A"/>
                </a:solidFill>
                <a:latin typeface="Avenir Nex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0344" y="2697480"/>
            <a:ext cx="1911096" cy="548640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74936" y="2779776"/>
            <a:ext cx="16367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4D17A"/>
                </a:solidFill>
                <a:latin typeface="Avenir Next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4936" y="2971800"/>
            <a:ext cx="16367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3F1E9"/>
                </a:solidFill>
                <a:latin typeface="Avenir Next"/>
              </a:rPr>
              <a:t>5-MIN 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60" y="3703320"/>
            <a:ext cx="6355080" cy="224028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440680" y="4005072"/>
            <a:ext cx="146304" cy="146304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15000" y="3931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The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4526280"/>
            <a:ext cx="5852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Five monthly Excel files, a sheet per day, sensor codes in the headers, and gaps everywhere. Read one wrong and the answer quietly changes.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OPENING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2 / 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380744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THE 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Automation is not the same as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A fast wrong answer is still wrong. We are building for the third column.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42615"/>
            <a:ext cx="146304" cy="146304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19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Steps live in someone's memory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Fixes are invisible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Failures surface late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Handover is painful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38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48200" y="2642615"/>
            <a:ext cx="146304" cy="146304"/>
          </a:xfrm>
          <a:prstGeom prst="ellipse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22520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Automated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64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Runs without re-clicking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But assumptions stay hidden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Speed is not proof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Wrong, just faster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82000" y="2642615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6320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Trustworthy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Stages are explicit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Inputs are checked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Outputs are reproducible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Failures are 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This workshop moves you </a:t>
            </a:r>
            <a:r>
              <a:rPr sz="1400" b="1" i="0">
                <a:solidFill>
                  <a:srgbClr val="54D17A"/>
                </a:solidFill>
                <a:latin typeface="Avenir Next"/>
              </a:rPr>
              <a:t>left → right</a:t>
            </a:r>
            <a:r>
              <a:rPr sz="1400" b="0" i="0">
                <a:solidFill>
                  <a:srgbClr val="9FB3A6"/>
                </a:solidFill>
                <a:latin typeface="Avenir Next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OPENING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3 / 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713" y="1034761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So what is a data pipeline?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A repeatable system that moves data through explicit, named stages.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1927555" cy="777240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596896"/>
            <a:ext cx="165323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4D17A"/>
                </a:solidFill>
                <a:latin typeface="Avenir Nex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788920"/>
            <a:ext cx="165323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F1E9"/>
                </a:solidFill>
                <a:latin typeface="Avenir Next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6779" y="272033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4D17A"/>
                </a:solidFill>
                <a:latin typeface="Avenir Next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8531" y="2514600"/>
            <a:ext cx="1927555" cy="777240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3123" y="2596896"/>
            <a:ext cx="165323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4D17A"/>
                </a:solidFill>
                <a:latin typeface="Avenir Nex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3123" y="2788920"/>
            <a:ext cx="165323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F1E9"/>
                </a:solidFill>
                <a:latin typeface="Avenir Next"/>
              </a:rP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5230" y="272033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4D17A"/>
                </a:solidFill>
                <a:latin typeface="Avenir Next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6982" y="2514600"/>
            <a:ext cx="1927555" cy="777240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81574" y="2596896"/>
            <a:ext cx="165323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4D17A"/>
                </a:solidFill>
                <a:latin typeface="Avenir Nex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1574" y="2788920"/>
            <a:ext cx="165323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F1E9"/>
                </a:solidFill>
                <a:latin typeface="Avenir Next"/>
              </a:rPr>
              <a:t>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3681" y="272033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4D17A"/>
                </a:solidFill>
                <a:latin typeface="Avenir Nex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5433" y="2514600"/>
            <a:ext cx="1927555" cy="777240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20025" y="2596896"/>
            <a:ext cx="165323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4D17A"/>
                </a:solidFill>
                <a:latin typeface="Avenir Nex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0025" y="2788920"/>
            <a:ext cx="165323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F1E9"/>
                </a:solidFill>
                <a:latin typeface="Avenir Next"/>
              </a:rP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2132" y="272033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4D17A"/>
                </a:solidFill>
                <a:latin typeface="Avenir Nex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93884" y="2514600"/>
            <a:ext cx="1927555" cy="777240"/>
          </a:xfrm>
          <a:prstGeom prst="roundRect">
            <a:avLst>
              <a:gd name="adj" fmla="val 16000"/>
            </a:avLst>
          </a:prstGeom>
          <a:solidFill>
            <a:srgbClr val="17271D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58476" y="2618162"/>
            <a:ext cx="165323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4D17A"/>
                </a:solidFill>
                <a:latin typeface="Avenir Next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8476" y="2788920"/>
            <a:ext cx="1653235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3F1E9"/>
                </a:solidFill>
                <a:latin typeface="Avenir Next"/>
              </a:rPr>
              <a:t>PUBLISH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3413760" cy="182880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4400" y="4105656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19" y="4032504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1E9"/>
                </a:solidFill>
                <a:latin typeface="Avenir Next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562856"/>
            <a:ext cx="28468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The values flowing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through the system.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3880" y="3794760"/>
            <a:ext cx="3413760" cy="182880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648200" y="4105656"/>
            <a:ext cx="146304" cy="146304"/>
          </a:xfrm>
          <a:prstGeom prst="ellipse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22520" y="4032504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1E9"/>
                </a:solidFill>
                <a:latin typeface="Avenir Next"/>
              </a:rPr>
              <a:t>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6488" y="4562856"/>
            <a:ext cx="28468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The rules that change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or reject those values.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7680" y="3794760"/>
            <a:ext cx="3413760" cy="182880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82000" y="4105656"/>
            <a:ext cx="146304" cy="146304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56320" y="4032504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1E9"/>
                </a:solidFill>
                <a:latin typeface="Avenir Next"/>
              </a:rP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0288" y="4562856"/>
            <a:ext cx="28468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The order, failure behavior,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and evidence of each run.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OPENING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4 / 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One command should rebuild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If trust lives in your head, it dies when you close the laptop. Put it in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6309360" cy="3611880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523744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523744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523744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432304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852928"/>
            <a:ext cx="5760720" cy="2880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$ python run_pipeline.py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Starting Ghana agrivoltaics pipeline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Reshaped </a:t>
            </a:r>
            <a:r>
              <a:rPr sz="1250" i="0">
                <a:solidFill>
                  <a:srgbClr val="F0A868"/>
                </a:solidFill>
                <a:latin typeface="Menlo"/>
              </a:rPr>
              <a:t>1</a:t>
            </a:r>
            <a:r>
              <a:rPr sz="1250" i="0">
                <a:solidFill>
                  <a:srgbClr val="D7E0D5"/>
                </a:solidFill>
                <a:latin typeface="Menlo"/>
              </a:rPr>
              <a:t>,</a:t>
            </a:r>
            <a:r>
              <a:rPr sz="1250" i="0">
                <a:solidFill>
                  <a:srgbClr val="F0A868"/>
                </a:solidFill>
                <a:latin typeface="Menlo"/>
              </a:rPr>
              <a:t>120</a:t>
            </a:r>
            <a:r>
              <a:rPr sz="1250" i="0">
                <a:solidFill>
                  <a:srgbClr val="D7E0D5"/>
                </a:solidFill>
                <a:latin typeface="Menlo"/>
              </a:rPr>
              <a:t>,</a:t>
            </a:r>
            <a:r>
              <a:rPr sz="1250" i="0">
                <a:solidFill>
                  <a:srgbClr val="F0A868"/>
                </a:solidFill>
                <a:latin typeface="Menlo"/>
              </a:rPr>
              <a:t>152</a:t>
            </a:r>
            <a:r>
              <a:rPr sz="1250" i="0">
                <a:solidFill>
                  <a:srgbClr val="D7E0D5"/>
                </a:solidFill>
                <a:latin typeface="Menlo"/>
              </a:rPr>
              <a:t> readings </a:t>
            </a:r>
            <a:r>
              <a:rPr sz="1250" i="0">
                <a:solidFill>
                  <a:srgbClr val="F7C948"/>
                </a:solidFill>
                <a:latin typeface="Menlo"/>
              </a:rPr>
              <a:t>from</a:t>
            </a:r>
            <a:r>
              <a:rPr sz="1250" i="0">
                <a:solidFill>
                  <a:srgbClr val="D7E0D5"/>
                </a:solidFill>
                <a:latin typeface="Menlo"/>
              </a:rPr>
              <a:t> raw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Validation: </a:t>
            </a:r>
            <a:r>
              <a:rPr sz="1250" i="0">
                <a:solidFill>
                  <a:srgbClr val="F0A868"/>
                </a:solidFill>
                <a:latin typeface="Menlo"/>
              </a:rPr>
              <a:t>4</a:t>
            </a:r>
            <a:r>
              <a:rPr sz="1250" i="0">
                <a:solidFill>
                  <a:srgbClr val="D7E0D5"/>
                </a:solidFill>
                <a:latin typeface="Menlo"/>
              </a:rPr>
              <a:t> warnings recorded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writing daily summary...        ok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writing midday comparison...    ok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writing microclimate chart...   ok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Pipeline completed successfully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286000"/>
            <a:ext cx="4251960" cy="1673352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543800" y="2596896"/>
            <a:ext cx="146304" cy="146304"/>
          </a:xfrm>
          <a:prstGeom prst="ellipse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523744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The command is boring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3054096"/>
            <a:ext cx="3685032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One line turns 5 messy workbooks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into trusted tables and a chart.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4133087"/>
            <a:ext cx="4251960" cy="1673352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43800" y="4443983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4370831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The trust is the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4901183"/>
            <a:ext cx="3685032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Every line above is a stage we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build together so it holds 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MENTAL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5 / 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Your next three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Short concept bursts, live builds, hands-on exercises, and checkpoints.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5257800" cy="51206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4D17A"/>
                </a:solidFill>
                <a:latin typeface="Menlo"/>
              </a:rPr>
              <a:t>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42316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Mental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423160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3A6"/>
                </a:solidFill>
                <a:latin typeface="Avenir Next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44952"/>
            <a:ext cx="5257800" cy="51206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44952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4D17A"/>
                </a:solidFill>
                <a:latin typeface="Menlo"/>
              </a:rPr>
              <a:t>0:25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044952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Load raw 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44952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3A6"/>
                </a:solidFill>
                <a:latin typeface="Avenir Next"/>
              </a:rPr>
              <a:t>20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66744"/>
            <a:ext cx="5257800" cy="51206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666744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4D17A"/>
                </a:solidFill>
                <a:latin typeface="Menlo"/>
              </a:rPr>
              <a:t>0:45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66744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Reshape &amp;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666744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3A6"/>
                </a:solidFill>
                <a:latin typeface="Avenir Next"/>
              </a:rPr>
              <a:t>25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88536"/>
            <a:ext cx="5257800" cy="51206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88536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4D17A"/>
                </a:solidFill>
                <a:latin typeface="Menlo"/>
              </a:rPr>
              <a:t>1:10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288536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288536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3A6"/>
                </a:solidFill>
                <a:latin typeface="Avenir Next"/>
              </a:rPr>
              <a:t>20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10328"/>
            <a:ext cx="5257800" cy="51206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910328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C948"/>
                </a:solidFill>
                <a:latin typeface="Menlo"/>
              </a:rPr>
              <a:t>1:30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910328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Break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910328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3A6"/>
                </a:solidFill>
                <a:latin typeface="Avenir Next"/>
              </a:rPr>
              <a:t>10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423160"/>
            <a:ext cx="5257800" cy="51206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2423160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4D17A"/>
                </a:solidFill>
                <a:latin typeface="Menlo"/>
              </a:rPr>
              <a:t>1:40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2423160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423160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3A6"/>
                </a:solidFill>
                <a:latin typeface="Avenir Next"/>
              </a:rPr>
              <a:t>25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044952"/>
            <a:ext cx="5257800" cy="51206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3044952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4D17A"/>
                </a:solidFill>
                <a:latin typeface="Menlo"/>
              </a:rPr>
              <a:t>2:05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3044952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044952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3A6"/>
                </a:solidFill>
                <a:latin typeface="Avenir Next"/>
              </a:rPr>
              <a:t>25 min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666744"/>
            <a:ext cx="5257800" cy="51206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3666744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4D17A"/>
                </a:solidFill>
                <a:latin typeface="Menlo"/>
              </a:rPr>
              <a:t>2:30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3666744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Insights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3666744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3A6"/>
                </a:solidFill>
                <a:latin typeface="Avenir Next"/>
              </a:rPr>
              <a:t>25 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288536"/>
            <a:ext cx="5257800" cy="51206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288536"/>
            <a:ext cx="8686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4D17A"/>
                </a:solidFill>
                <a:latin typeface="Menlo"/>
              </a:rPr>
              <a:t>2:55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4288536"/>
            <a:ext cx="3063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Wrap-up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4288536"/>
            <a:ext cx="10972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FB3A6"/>
                </a:solidFill>
                <a:latin typeface="Avenir Next"/>
              </a:rPr>
              <a:t>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OPENING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6 / 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3895344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PREDICT  ·  COMMIT BEFORE WE INSPECT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Which change should break the pipeline?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No peeking at the data yet — pick the one that must stop the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88336"/>
            <a:ext cx="512064" cy="512064"/>
          </a:xfrm>
          <a:prstGeom prst="ellipse">
            <a:avLst/>
          </a:prstGeom>
          <a:solidFill>
            <a:srgbClr val="1E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8833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C948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77440"/>
            <a:ext cx="40233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A new monthly Excel arrives with the usual day-sheets.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7744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17271D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60" y="2688336"/>
            <a:ext cx="512064" cy="512064"/>
          </a:xfrm>
          <a:prstGeom prst="ellipse">
            <a:avLst/>
          </a:prstGeom>
          <a:solidFill>
            <a:srgbClr val="1E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68833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C948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377440"/>
            <a:ext cx="40233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A sheet uses an unknown plot code like ZZ-XX.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4014215"/>
            <a:ext cx="512064" cy="512064"/>
          </a:xfrm>
          <a:prstGeom prst="ellipse">
            <a:avLst/>
          </a:prstGeom>
          <a:solidFill>
            <a:srgbClr val="1E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14215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C948"/>
                </a:solidFill>
                <a:latin typeface="Avenir Next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03320"/>
            <a:ext cx="40233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One temperature cell reads 350 °C.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0332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37960" y="4014215"/>
            <a:ext cx="512064" cy="512064"/>
          </a:xfrm>
          <a:prstGeom prst="ellipse">
            <a:avLst/>
          </a:prstGeom>
          <a:solidFill>
            <a:srgbClr val="1E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4014215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7C948"/>
                </a:solidFill>
                <a:latin typeface="Avenir Next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703320"/>
            <a:ext cx="402336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A sheet puts its header on row 2 instead of row 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C948"/>
                </a:solidFill>
                <a:latin typeface="Avenir Next"/>
              </a:rPr>
              <a:t>DISCUSS   </a:t>
            </a:r>
            <a:r>
              <a:rPr sz="1400" b="0" i="0">
                <a:solidFill>
                  <a:srgbClr val="F3F1E9"/>
                </a:solidFill>
                <a:latin typeface="Avenir Next"/>
              </a:rPr>
              <a:t>An unknown plot code is a contract break — it must stop the run. A 350° reading we quarantine; a shifted header we detect.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OPENING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7 / 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54D17A"/>
                </a:solidFill>
                <a:latin typeface="Avenir Next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3401568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MODULE 1  ·  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22191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3F1E9"/>
                </a:solidFill>
                <a:latin typeface="Avenir Next"/>
              </a:rPr>
              <a:t>Load the Raw 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828032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FB3A6"/>
                </a:solidFill>
                <a:latin typeface="Avenir Next"/>
              </a:rPr>
              <a:t>Before we reshape anything, prove the pipeline can find and open every day of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6692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You leave with   </a:t>
            </a:r>
            <a:r>
              <a:rPr sz="1400" b="1" i="0">
                <a:solidFill>
                  <a:srgbClr val="F3F1E9"/>
                </a:solidFill>
                <a:latin typeface="Avenir Next"/>
              </a:rPr>
              <a:t>every day-sheet in every monthly workbook, readable exactly as recorded.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8 / 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Raw data is evidence — don't overwrite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Keep the original Excel files exactly as received. Everything else is rebuildable.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42615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19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data/raw/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The provider's Excel files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Immutable in our workflow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Messy headers and 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38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48200" y="2642615"/>
            <a:ext cx="146304" cy="146304"/>
          </a:xfrm>
          <a:prstGeom prst="ellipse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22520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data/processed/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64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Created by our code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Can always be rebuilt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Carries documented assumptions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82000" y="2642615"/>
            <a:ext cx="146304" cy="146304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6320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Why keep both?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Audit what changed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Fix the reshape logic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Reproduce any past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FB3A6"/>
                </a:solidFill>
                <a:latin typeface="Avenir Next"/>
              </a:rPr>
              <a:t>Rule of thumb:   </a:t>
            </a:r>
            <a:r>
              <a:rPr sz="1400" b="0" i="0">
                <a:solidFill>
                  <a:srgbClr val="F3F1E9"/>
                </a:solidFill>
                <a:latin typeface="Avenir Next"/>
              </a:rPr>
              <a:t>if a step can't be re-run from raw, it isn't part of the pipeline yet.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1 · 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9 / 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33" y="21266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883664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KNOW YOUR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One workbook per month, one sheet per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The data's structure is the first thing to understand — before any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42615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19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5 workbooks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One Excel file per month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May, Jun, Jul, Aug, Oct 2024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(.xlsx, not CSV)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38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48200" y="2642615"/>
            <a:ext cx="146304" cy="146304"/>
          </a:xfrm>
          <a:prstGeom prst="ellipse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22520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~30 sheets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64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One sheet per day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Named like '1 08 24'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≈ 150 day-sheets in 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82000" y="2642615"/>
            <a:ext cx="146304" cy="146304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6320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5-minute readings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A row every 5 minutes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06:30 → dusk, ~159 rows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1.1M readings total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This isn't a tidy weekly CSV — </a:t>
            </a:r>
            <a:r>
              <a:rPr sz="1400" b="0" i="0">
                <a:solidFill>
                  <a:srgbClr val="F3F1E9"/>
                </a:solidFill>
                <a:latin typeface="Avenir Next"/>
              </a:rPr>
              <a:t>it's high-frequency sensor telemetry, nested in spreadsheets.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1 · 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10 / 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990087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src/ingest.py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Find the files, then list their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pathlib finds the workbooks; pandas lists the day-sheets inside each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672084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4406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src/ingest.py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617220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SUPPORTED_SUFFIXES = {</a:t>
            </a:r>
            <a:r>
              <a:rPr sz="1250" i="0">
                <a:solidFill>
                  <a:srgbClr val="7FD89A"/>
                </a:solidFill>
                <a:latin typeface="Menlo"/>
              </a:rPr>
              <a:t>".csv"</a:t>
            </a:r>
            <a:r>
              <a:rPr sz="1250" i="0">
                <a:solidFill>
                  <a:srgbClr val="D7E0D5"/>
                </a:solidFill>
                <a:latin typeface="Menlo"/>
              </a:rPr>
              <a:t>, </a:t>
            </a:r>
            <a:r>
              <a:rPr sz="1250" i="0">
                <a:solidFill>
                  <a:srgbClr val="7FD89A"/>
                </a:solidFill>
                <a:latin typeface="Menlo"/>
              </a:rPr>
              <a:t>".xls"</a:t>
            </a:r>
            <a:r>
              <a:rPr sz="1250" i="0">
                <a:solidFill>
                  <a:srgbClr val="D7E0D5"/>
                </a:solidFill>
                <a:latin typeface="Menlo"/>
              </a:rPr>
              <a:t>, </a:t>
            </a:r>
            <a:r>
              <a:rPr sz="1250" i="0">
                <a:solidFill>
                  <a:srgbClr val="7FD89A"/>
                </a:solidFill>
                <a:latin typeface="Menlo"/>
              </a:rPr>
              <a:t>".xlsx"</a:t>
            </a:r>
            <a:r>
              <a:rPr sz="1250" i="0">
                <a:solidFill>
                  <a:srgbClr val="D7E0D5"/>
                </a:solidFill>
                <a:latin typeface="Menlo"/>
              </a:rPr>
              <a:t>}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F7C948"/>
                </a:solidFill>
                <a:latin typeface="Menlo"/>
              </a:rPr>
              <a:t>def</a:t>
            </a:r>
            <a:r>
              <a:rPr sz="1250" i="0">
                <a:solidFill>
                  <a:srgbClr val="D7E0D5"/>
                </a:solidFill>
                <a:latin typeface="Menlo"/>
              </a:rPr>
              <a:t> list_tabular_files(raw_dir):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raw_path = Path(raw_dir)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</a:t>
            </a:r>
            <a:r>
              <a:rPr sz="1250" i="0">
                <a:solidFill>
                  <a:srgbClr val="F7C948"/>
                </a:solidFill>
                <a:latin typeface="Menlo"/>
              </a:rPr>
              <a:t>return</a:t>
            </a:r>
            <a:r>
              <a:rPr sz="1250" i="0">
                <a:solidFill>
                  <a:srgbClr val="D7E0D5"/>
                </a:solidFill>
                <a:latin typeface="Menlo"/>
              </a:rPr>
              <a:t> </a:t>
            </a:r>
            <a:r>
              <a:rPr sz="1250" i="0">
                <a:solidFill>
                  <a:srgbClr val="F7C948"/>
                </a:solidFill>
                <a:latin typeface="Menlo"/>
              </a:rPr>
              <a:t>sorted</a:t>
            </a:r>
            <a:r>
              <a:rPr sz="1250" i="0">
                <a:solidFill>
                  <a:srgbClr val="D7E0D5"/>
                </a:solidFill>
                <a:latin typeface="Menlo"/>
              </a:rPr>
              <a:t>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path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50" i="0">
                <a:solidFill>
                  <a:srgbClr val="F7C948"/>
                </a:solidFill>
                <a:latin typeface="Menlo"/>
              </a:rPr>
              <a:t>for</a:t>
            </a:r>
            <a:r>
              <a:rPr sz="1250" i="0">
                <a:solidFill>
                  <a:srgbClr val="D7E0D5"/>
                </a:solidFill>
                <a:latin typeface="Menlo"/>
              </a:rPr>
              <a:t> path </a:t>
            </a:r>
            <a:r>
              <a:rPr sz="1250" i="0">
                <a:solidFill>
                  <a:srgbClr val="F7C948"/>
                </a:solidFill>
                <a:latin typeface="Menlo"/>
              </a:rPr>
              <a:t>in</a:t>
            </a:r>
            <a:r>
              <a:rPr sz="1250" i="0">
                <a:solidFill>
                  <a:srgbClr val="D7E0D5"/>
                </a:solidFill>
                <a:latin typeface="Menlo"/>
              </a:rPr>
              <a:t> raw_path.glob(</a:t>
            </a:r>
            <a:r>
              <a:rPr sz="1250" i="0">
                <a:solidFill>
                  <a:srgbClr val="7FD89A"/>
                </a:solidFill>
                <a:latin typeface="Menlo"/>
              </a:rPr>
              <a:t>"*"</a:t>
            </a:r>
            <a:r>
              <a:rPr sz="125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50" i="0">
                <a:solidFill>
                  <a:srgbClr val="F7C948"/>
                </a:solidFill>
                <a:latin typeface="Menlo"/>
              </a:rPr>
              <a:t>if</a:t>
            </a:r>
            <a:r>
              <a:rPr sz="1250" i="0">
                <a:solidFill>
                  <a:srgbClr val="D7E0D5"/>
                </a:solidFill>
                <a:latin typeface="Menlo"/>
              </a:rPr>
              <a:t> path.is_file()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50" i="0">
                <a:solidFill>
                  <a:srgbClr val="F7C948"/>
                </a:solidFill>
                <a:latin typeface="Menlo"/>
              </a:rPr>
              <a:t>and</a:t>
            </a:r>
            <a:r>
              <a:rPr sz="1250" i="0">
                <a:solidFill>
                  <a:srgbClr val="D7E0D5"/>
                </a:solidFill>
                <a:latin typeface="Menlo"/>
              </a:rPr>
              <a:t> path.suffix.lower() </a:t>
            </a:r>
            <a:r>
              <a:rPr sz="1250" i="0">
                <a:solidFill>
                  <a:srgbClr val="F7C948"/>
                </a:solidFill>
                <a:latin typeface="Menlo"/>
              </a:rPr>
              <a:t>in</a:t>
            </a:r>
            <a:r>
              <a:rPr sz="1250" i="0">
                <a:solidFill>
                  <a:srgbClr val="D7E0D5"/>
                </a:solidFill>
                <a:latin typeface="Menlo"/>
              </a:rPr>
              <a:t> SUPPORTED_SUFFIXES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F7C948"/>
                </a:solidFill>
                <a:latin typeface="Menlo"/>
              </a:rPr>
              <a:t>def</a:t>
            </a:r>
            <a:r>
              <a:rPr sz="1250" i="0">
                <a:solidFill>
                  <a:srgbClr val="D7E0D5"/>
                </a:solidFill>
                <a:latin typeface="Menlo"/>
              </a:rPr>
              <a:t> list_day_sheets(path):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</a:t>
            </a:r>
            <a:r>
              <a:rPr sz="1250" i="0">
                <a:solidFill>
                  <a:srgbClr val="F7C948"/>
                </a:solidFill>
                <a:latin typeface="Menlo"/>
              </a:rPr>
              <a:t>return</a:t>
            </a:r>
            <a:r>
              <a:rPr sz="1250" i="0">
                <a:solidFill>
                  <a:srgbClr val="D7E0D5"/>
                </a:solidFill>
                <a:latin typeface="Menlo"/>
              </a:rPr>
              <a:t> pd.ExcelFile(path).sheet_names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042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WHY THIS 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761488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Files are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063240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Discovered, sorted, and testable — no hard-coded names.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40480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Sheets are data too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142232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Each workbook hides ~30 days we must enumerate.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919472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One allow-list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221224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Only .csv/.xls/.xlsx are ever considered.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1 ·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11 / 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633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990087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src/ingest.py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Read each sheet exactly as recorded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header=None means pandas assumes nothing — we keep every messy 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672084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4406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src/ingest.py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617220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F7C948"/>
                </a:solidFill>
                <a:latin typeface="Menlo"/>
              </a:rPr>
              <a:t>def</a:t>
            </a:r>
            <a:r>
              <a:rPr sz="1250" i="0">
                <a:solidFill>
                  <a:srgbClr val="D7E0D5"/>
                </a:solidFill>
                <a:latin typeface="Menlo"/>
              </a:rPr>
              <a:t> load_raw_sheet(path, sheet_name):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</a:t>
            </a:r>
            <a:r>
              <a:rPr sz="1250" i="0">
                <a:solidFill>
                  <a:srgbClr val="F7C948"/>
                </a:solidFill>
                <a:latin typeface="Menlo"/>
              </a:rPr>
              <a:t>return</a:t>
            </a:r>
            <a:r>
              <a:rPr sz="1250" i="0">
                <a:solidFill>
                  <a:srgbClr val="D7E0D5"/>
                </a:solidFill>
                <a:latin typeface="Menlo"/>
              </a:rPr>
              <a:t> pd.read_excel(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path, sheet_name=sheet_name, header=</a:t>
            </a:r>
            <a:r>
              <a:rPr sz="1250" i="0">
                <a:solidFill>
                  <a:srgbClr val="F7C948"/>
                </a:solidFill>
                <a:latin typeface="Menlo"/>
              </a:rPr>
              <a:t>None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F7C948"/>
                </a:solidFill>
                <a:latin typeface="Menlo"/>
              </a:rPr>
              <a:t>def</a:t>
            </a:r>
            <a:r>
              <a:rPr sz="1250" i="0">
                <a:solidFill>
                  <a:srgbClr val="D7E0D5"/>
                </a:solidFill>
                <a:latin typeface="Menlo"/>
              </a:rPr>
              <a:t> iter_raw_sheets(raw_dir):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</a:t>
            </a:r>
            <a:r>
              <a:rPr sz="1250" i="0">
                <a:solidFill>
                  <a:srgbClr val="F7C948"/>
                </a:solidFill>
                <a:latin typeface="Menlo"/>
              </a:rPr>
              <a:t>for</a:t>
            </a:r>
            <a:r>
              <a:rPr sz="1250" i="0">
                <a:solidFill>
                  <a:srgbClr val="D7E0D5"/>
                </a:solidFill>
                <a:latin typeface="Menlo"/>
              </a:rPr>
              <a:t> file_path </a:t>
            </a:r>
            <a:r>
              <a:rPr sz="1250" i="0">
                <a:solidFill>
                  <a:srgbClr val="F7C948"/>
                </a:solidFill>
                <a:latin typeface="Menlo"/>
              </a:rPr>
              <a:t>in</a:t>
            </a:r>
            <a:r>
              <a:rPr sz="1250" i="0">
                <a:solidFill>
                  <a:srgbClr val="D7E0D5"/>
                </a:solidFill>
                <a:latin typeface="Menlo"/>
              </a:rPr>
              <a:t> list_tabular_files(raw_dir):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50" i="0">
                <a:solidFill>
                  <a:srgbClr val="F7C948"/>
                </a:solidFill>
                <a:latin typeface="Menlo"/>
              </a:rPr>
              <a:t>for</a:t>
            </a:r>
            <a:r>
              <a:rPr sz="1250" i="0">
                <a:solidFill>
                  <a:srgbClr val="D7E0D5"/>
                </a:solidFill>
                <a:latin typeface="Menlo"/>
              </a:rPr>
              <a:t> sheet </a:t>
            </a:r>
            <a:r>
              <a:rPr sz="1250" i="0">
                <a:solidFill>
                  <a:srgbClr val="F7C948"/>
                </a:solidFill>
                <a:latin typeface="Menlo"/>
              </a:rPr>
              <a:t>in</a:t>
            </a:r>
            <a:r>
              <a:rPr sz="1250" i="0">
                <a:solidFill>
                  <a:srgbClr val="D7E0D5"/>
                </a:solidFill>
                <a:latin typeface="Menlo"/>
              </a:rPr>
              <a:t> list_day_sheets(file_path):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    yield file_path, sheet, load_raw_sheet(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        file_path, sheet)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042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DESIGN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761488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Assume nothing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063240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header=None keeps the two header rows as data for now.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40480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Stream, don't hoard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142232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yield hands back one day at a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919472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Loud on bad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221224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An unreadable workbook raises, never guesses.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1 ·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12 / 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Load the raw 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Work from evidence — open the files and see what's really there.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024128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 w="19050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2070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7C948"/>
                </a:solidFill>
                <a:latin typeface="Avenir Nex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65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3A6"/>
                </a:solidFill>
                <a:latin typeface="Avenir Next"/>
              </a:rPr>
              <a:t>MINUTES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14016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List every workbook in </a:t>
            </a:r>
            <a:r>
              <a:rPr sz="1400" b="0" i="0">
                <a:solidFill>
                  <a:srgbClr val="54D17A"/>
                </a:solidFill>
                <a:latin typeface="Menlo"/>
              </a:rPr>
              <a:t>data/raw/</a:t>
            </a:r>
            <a:r>
              <a:rPr sz="1550" b="0" i="0">
                <a:solidFill>
                  <a:srgbClr val="F3F1E9"/>
                </a:solidFill>
                <a:latin typeface="Avenir Next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63824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Print the </a:t>
            </a:r>
            <a:r>
              <a:rPr sz="1400" b="0" i="0">
                <a:solidFill>
                  <a:srgbClr val="54D17A"/>
                </a:solidFill>
                <a:latin typeface="Menlo"/>
              </a:rPr>
              <a:t>sheet names</a:t>
            </a:r>
            <a:r>
              <a:rPr sz="1550" b="0" i="0">
                <a:solidFill>
                  <a:srgbClr val="F3F1E9"/>
                </a:solidFill>
                <a:latin typeface="Avenir Next"/>
              </a:rPr>
              <a:t> of the first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13631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Read one day-sheet with </a:t>
            </a:r>
            <a:r>
              <a:rPr sz="1350" b="0" i="0">
                <a:solidFill>
                  <a:srgbClr val="54D17A"/>
                </a:solidFill>
                <a:latin typeface="Menlo"/>
              </a:rPr>
              <a:t>header=None</a:t>
            </a:r>
            <a:r>
              <a:rPr sz="1550" b="0" i="0">
                <a:solidFill>
                  <a:srgbClr val="F3F1E9"/>
                </a:solidFill>
                <a:latin typeface="Avenir Next"/>
              </a:rPr>
              <a:t> and look.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6344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Stretch: count total sheets across all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B3A6"/>
                </a:solidFill>
                <a:latin typeface="Avenir Next"/>
              </a:rPr>
              <a:t>WORK IN   </a:t>
            </a:r>
            <a:r>
              <a:rPr sz="1350" b="0" i="0">
                <a:solidFill>
                  <a:srgbClr val="F7C948"/>
                </a:solidFill>
                <a:latin typeface="Menlo"/>
              </a:rPr>
              <a:t>src/ingest.py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1 ·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13 / 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3F1E9"/>
                </a:solidFill>
                <a:latin typeface="Avenir Next"/>
              </a:rPr>
              <a:t>Inputs are under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A6"/>
                </a:solidFill>
                <a:latin typeface="Avenir Next"/>
              </a:rPr>
              <a:t>Pause and check the result before we add another layer.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7706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All five workbooks are listed.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38727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5204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You can enumerate the day-sheets inside each file.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288536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27024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A single raw sheet can be read and inspected.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038344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50200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No source file was edited by hand.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1 ·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14 / 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54D17A"/>
                </a:solidFill>
                <a:latin typeface="Avenir Next"/>
              </a:rPr>
              <a:t>02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3401568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MODULE 2  ·  25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22191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3F1E9"/>
                </a:solidFill>
                <a:latin typeface="Avenir Next"/>
              </a:rPr>
              <a:t>Reshape &amp;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828032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FB3A6"/>
                </a:solidFill>
                <a:latin typeface="Avenir Next"/>
              </a:rPr>
              <a:t>Turn the wide, two-header sensor grid into tidy rows — then measure what you actually have.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6692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You leave with   </a:t>
            </a:r>
            <a:r>
              <a:rPr sz="1400" b="1" i="0">
                <a:solidFill>
                  <a:srgbClr val="F3F1E9"/>
                </a:solidFill>
                <a:latin typeface="Avenir Next"/>
              </a:rPr>
              <a:t>one tidy long table of readings, plus a profile of its coverage and quality.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15 / 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084832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THE REAL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The raw sheet has two header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Plot codes sit above measurement types, with time down the side.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6400800" cy="3566160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523744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523744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523744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43230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raw sheet · 1 08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852928"/>
            <a:ext cx="5852160" cy="28346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AG-PV P3        AO-TI P1   ...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Irr     T       RH     T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0A868"/>
                </a:solidFill>
                <a:latin typeface="Menlo"/>
              </a:rPr>
              <a:t>06</a:t>
            </a:r>
            <a:r>
              <a:rPr sz="1200" i="0">
                <a:solidFill>
                  <a:srgbClr val="D7E0D5"/>
                </a:solidFill>
                <a:latin typeface="Menlo"/>
              </a:rPr>
              <a:t>:</a:t>
            </a:r>
            <a:r>
              <a:rPr sz="1200" i="0">
                <a:solidFill>
                  <a:srgbClr val="F0A868"/>
                </a:solidFill>
                <a:latin typeface="Menlo"/>
              </a:rPr>
              <a:t>30</a:t>
            </a: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F0A868"/>
                </a:solidFill>
                <a:latin typeface="Menlo"/>
              </a:rPr>
              <a:t>57</a:t>
            </a:r>
            <a:r>
              <a:rPr sz="1200" i="0">
                <a:solidFill>
                  <a:srgbClr val="D7E0D5"/>
                </a:solidFill>
                <a:latin typeface="Menlo"/>
              </a:rPr>
              <a:t>      —       </a:t>
            </a:r>
            <a:r>
              <a:rPr sz="1200" i="0">
                <a:solidFill>
                  <a:srgbClr val="F0A868"/>
                </a:solidFill>
                <a:latin typeface="Menlo"/>
              </a:rPr>
              <a:t>89</a:t>
            </a:r>
            <a:r>
              <a:rPr sz="1200" i="0">
                <a:solidFill>
                  <a:srgbClr val="D7E0D5"/>
                </a:solidFill>
                <a:latin typeface="Menlo"/>
              </a:rPr>
              <a:t>.</a:t>
            </a:r>
            <a:r>
              <a:rPr sz="1200" i="0">
                <a:solidFill>
                  <a:srgbClr val="F0A868"/>
                </a:solidFill>
                <a:latin typeface="Menlo"/>
              </a:rPr>
              <a:t>4</a:t>
            </a:r>
            <a:r>
              <a:rPr sz="1200" i="0">
                <a:solidFill>
                  <a:srgbClr val="D7E0D5"/>
                </a:solidFill>
                <a:latin typeface="Menlo"/>
              </a:rPr>
              <a:t>   </a:t>
            </a:r>
            <a:r>
              <a:rPr sz="1200" i="0">
                <a:solidFill>
                  <a:srgbClr val="F0A868"/>
                </a:solidFill>
                <a:latin typeface="Menlo"/>
              </a:rPr>
              <a:t>24</a:t>
            </a:r>
            <a:r>
              <a:rPr sz="1200" i="0">
                <a:solidFill>
                  <a:srgbClr val="D7E0D5"/>
                </a:solidFill>
                <a:latin typeface="Menlo"/>
              </a:rPr>
              <a:t>.</a:t>
            </a:r>
            <a:r>
              <a:rPr sz="1200" i="0">
                <a:solidFill>
                  <a:srgbClr val="F0A868"/>
                </a:solidFill>
                <a:latin typeface="Menlo"/>
              </a:rPr>
              <a:t>2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0A868"/>
                </a:solidFill>
                <a:latin typeface="Menlo"/>
              </a:rPr>
              <a:t>06</a:t>
            </a:r>
            <a:r>
              <a:rPr sz="1200" i="0">
                <a:solidFill>
                  <a:srgbClr val="D7E0D5"/>
                </a:solidFill>
                <a:latin typeface="Menlo"/>
              </a:rPr>
              <a:t>:</a:t>
            </a:r>
            <a:r>
              <a:rPr sz="1200" i="0">
                <a:solidFill>
                  <a:srgbClr val="F0A868"/>
                </a:solidFill>
                <a:latin typeface="Menlo"/>
              </a:rPr>
              <a:t>35</a:t>
            </a: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F0A868"/>
                </a:solidFill>
                <a:latin typeface="Menlo"/>
              </a:rPr>
              <a:t>69</a:t>
            </a:r>
            <a:r>
              <a:rPr sz="1200" i="0">
                <a:solidFill>
                  <a:srgbClr val="D7E0D5"/>
                </a:solidFill>
                <a:latin typeface="Menlo"/>
              </a:rPr>
              <a:t>      —       </a:t>
            </a:r>
            <a:r>
              <a:rPr sz="1200" i="0">
                <a:solidFill>
                  <a:srgbClr val="F0A868"/>
                </a:solidFill>
                <a:latin typeface="Menlo"/>
              </a:rPr>
              <a:t>87</a:t>
            </a:r>
            <a:r>
              <a:rPr sz="1200" i="0">
                <a:solidFill>
                  <a:srgbClr val="D7E0D5"/>
                </a:solidFill>
                <a:latin typeface="Menlo"/>
              </a:rPr>
              <a:t>.</a:t>
            </a:r>
            <a:r>
              <a:rPr sz="1200" i="0">
                <a:solidFill>
                  <a:srgbClr val="F0A868"/>
                </a:solidFill>
                <a:latin typeface="Menlo"/>
              </a:rPr>
              <a:t>8</a:t>
            </a:r>
            <a:r>
              <a:rPr sz="1200" i="0">
                <a:solidFill>
                  <a:srgbClr val="D7E0D5"/>
                </a:solidFill>
                <a:latin typeface="Menlo"/>
              </a:rPr>
              <a:t>   </a:t>
            </a:r>
            <a:r>
              <a:rPr sz="1200" i="0">
                <a:solidFill>
                  <a:srgbClr val="F0A868"/>
                </a:solidFill>
                <a:latin typeface="Menlo"/>
              </a:rPr>
              <a:t>24</a:t>
            </a:r>
            <a:r>
              <a:rPr sz="1200" i="0">
                <a:solidFill>
                  <a:srgbClr val="D7E0D5"/>
                </a:solidFill>
                <a:latin typeface="Menlo"/>
              </a:rPr>
              <a:t>.</a:t>
            </a:r>
            <a:r>
              <a:rPr sz="1200" i="0">
                <a:solidFill>
                  <a:srgbClr val="F0A868"/>
                </a:solidFill>
                <a:latin typeface="Menlo"/>
              </a:rPr>
              <a:t>8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0A868"/>
                </a:solidFill>
                <a:latin typeface="Menlo"/>
              </a:rPr>
              <a:t>06</a:t>
            </a:r>
            <a:r>
              <a:rPr sz="1200" i="0">
                <a:solidFill>
                  <a:srgbClr val="D7E0D5"/>
                </a:solidFill>
                <a:latin typeface="Menlo"/>
              </a:rPr>
              <a:t>:</a:t>
            </a:r>
            <a:r>
              <a:rPr sz="1200" i="0">
                <a:solidFill>
                  <a:srgbClr val="F0A868"/>
                </a:solidFill>
                <a:latin typeface="Menlo"/>
              </a:rPr>
              <a:t>40</a:t>
            </a: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F0A868"/>
                </a:solidFill>
                <a:latin typeface="Menlo"/>
              </a:rPr>
              <a:t>78</a:t>
            </a:r>
            <a:r>
              <a:rPr sz="1200" i="0">
                <a:solidFill>
                  <a:srgbClr val="D7E0D5"/>
                </a:solidFill>
                <a:latin typeface="Menlo"/>
              </a:rPr>
              <a:t>      —       </a:t>
            </a:r>
            <a:r>
              <a:rPr sz="1200" i="0">
                <a:solidFill>
                  <a:srgbClr val="F0A868"/>
                </a:solidFill>
                <a:latin typeface="Menlo"/>
              </a:rPr>
              <a:t>87</a:t>
            </a:r>
            <a:r>
              <a:rPr sz="1200" i="0">
                <a:solidFill>
                  <a:srgbClr val="D7E0D5"/>
                </a:solidFill>
                <a:latin typeface="Menlo"/>
              </a:rPr>
              <a:t>.</a:t>
            </a:r>
            <a:r>
              <a:rPr sz="1200" i="0">
                <a:solidFill>
                  <a:srgbClr val="F0A868"/>
                </a:solidFill>
                <a:latin typeface="Menlo"/>
              </a:rPr>
              <a:t>3</a:t>
            </a:r>
            <a:r>
              <a:rPr sz="1200" i="0">
                <a:solidFill>
                  <a:srgbClr val="D7E0D5"/>
                </a:solidFill>
                <a:latin typeface="Menlo"/>
              </a:rPr>
              <a:t>   </a:t>
            </a:r>
            <a:r>
              <a:rPr sz="1200" i="0">
                <a:solidFill>
                  <a:srgbClr val="F0A868"/>
                </a:solidFill>
                <a:latin typeface="Menlo"/>
              </a:rPr>
              <a:t>25</a:t>
            </a:r>
            <a:r>
              <a:rPr sz="1200" i="0">
                <a:solidFill>
                  <a:srgbClr val="D7E0D5"/>
                </a:solidFill>
                <a:latin typeface="Menlo"/>
              </a:rPr>
              <a:t>.</a:t>
            </a:r>
            <a:r>
              <a:rPr sz="1200" i="0">
                <a:solidFill>
                  <a:srgbClr val="F0A868"/>
                </a:solidFill>
                <a:latin typeface="Menlo"/>
              </a:rPr>
              <a:t>1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...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0A868"/>
                </a:solidFill>
                <a:latin typeface="Menlo"/>
              </a:rPr>
              <a:t>11</a:t>
            </a:r>
            <a:r>
              <a:rPr sz="1200" i="0">
                <a:solidFill>
                  <a:srgbClr val="D7E0D5"/>
                </a:solidFill>
                <a:latin typeface="Menlo"/>
              </a:rPr>
              <a:t>:</a:t>
            </a:r>
            <a:r>
              <a:rPr sz="1200" i="0">
                <a:solidFill>
                  <a:srgbClr val="F0A868"/>
                </a:solidFill>
                <a:latin typeface="Menlo"/>
              </a:rPr>
              <a:t>34</a:t>
            </a:r>
            <a:r>
              <a:rPr sz="1200" i="0">
                <a:solidFill>
                  <a:srgbClr val="D7E0D5"/>
                </a:solidFill>
                <a:latin typeface="Menlo"/>
              </a:rPr>
              <a:t>  Need network restart - ETH...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286000"/>
            <a:ext cx="4251960" cy="114300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543800" y="2596896"/>
            <a:ext cx="146304" cy="146304"/>
          </a:xfrm>
          <a:prstGeom prst="ellipse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523744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Codes are merged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3054096"/>
            <a:ext cx="36850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One plot code spans several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columns; blanks must be filled.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3547872"/>
            <a:ext cx="4251960" cy="114300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43800" y="3858768"/>
            <a:ext cx="146304" cy="146304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3785615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Header row drifts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4315968"/>
            <a:ext cx="36850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Some sheets add a blank top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row — find it, don't assume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4809744"/>
            <a:ext cx="4251960" cy="1042415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543800" y="5120640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504748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Cells lie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5577840"/>
            <a:ext cx="3685032" cy="128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Junk text hides among times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and numbers.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2 · RESHAPE &amp; 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16 / 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Tidy data: one row per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Every later stage becomes easy once each reading is its own 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10881360" cy="512064"/>
          </a:xfrm>
          <a:prstGeom prst="roundRect">
            <a:avLst>
              <a:gd name="adj" fmla="val 4000"/>
            </a:avLst>
          </a:prstGeom>
          <a:solidFill>
            <a:srgbClr val="1E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468880"/>
            <a:ext cx="2148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D17A"/>
                </a:solidFill>
                <a:latin typeface="Menlo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6392" y="2468880"/>
            <a:ext cx="195453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D17A"/>
                </a:solidFill>
                <a:latin typeface="Menlo"/>
              </a:rPr>
              <a:t>raw_time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3802" y="2468880"/>
            <a:ext cx="2148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D17A"/>
                </a:solidFill>
                <a:latin typeface="Menlo"/>
              </a:rPr>
              <a:t>plot_code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5522" y="2468880"/>
            <a:ext cx="234315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D17A"/>
                </a:solidFill>
                <a:latin typeface="Menlo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1552" y="2468880"/>
            <a:ext cx="1371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D17A"/>
                </a:solidFill>
                <a:latin typeface="Menlo"/>
              </a:rPr>
              <a:t>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35808"/>
            <a:ext cx="10881360" cy="512064"/>
          </a:xfrm>
          <a:prstGeom prst="roundRect">
            <a:avLst>
              <a:gd name="adj" fmla="val 4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3035808"/>
            <a:ext cx="2148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3F1E9"/>
                </a:solidFill>
                <a:latin typeface="Menlo"/>
              </a:rPr>
              <a:t>2024-08-01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3035808"/>
            <a:ext cx="195453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06:30:00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3802" y="3035808"/>
            <a:ext cx="2148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AG-PV P3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5522" y="3035808"/>
            <a:ext cx="234315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irradiance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31552" y="3035808"/>
            <a:ext cx="1371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602736"/>
            <a:ext cx="2148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3F1E9"/>
                </a:solidFill>
                <a:latin typeface="Menlo"/>
              </a:rPr>
              <a:t>2024-08-01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3602736"/>
            <a:ext cx="195453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06:30:00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3802" y="3602736"/>
            <a:ext cx="2148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AO-TI 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5522" y="3602736"/>
            <a:ext cx="234315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temperature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3602736"/>
            <a:ext cx="1371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24.2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69664"/>
            <a:ext cx="10881360" cy="512064"/>
          </a:xfrm>
          <a:prstGeom prst="roundRect">
            <a:avLst>
              <a:gd name="adj" fmla="val 4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4169664"/>
            <a:ext cx="2148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3F1E9"/>
                </a:solidFill>
                <a:latin typeface="Menlo"/>
              </a:rPr>
              <a:t>2024-08-01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6392" y="4169664"/>
            <a:ext cx="195453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06:35:00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3802" y="4169664"/>
            <a:ext cx="21488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AG-PV P3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5522" y="4169664"/>
            <a:ext cx="234315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irradiance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1552" y="4169664"/>
            <a:ext cx="1371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69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66928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66928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Wide grid in, </a:t>
            </a:r>
            <a:r>
              <a:rPr sz="1400" b="1" i="0">
                <a:solidFill>
                  <a:srgbClr val="54D17A"/>
                </a:solidFill>
                <a:latin typeface="Avenir Next"/>
              </a:rPr>
              <a:t>tidy long table out</a:t>
            </a:r>
            <a:r>
              <a:rPr sz="1400" b="0" i="0">
                <a:solidFill>
                  <a:srgbClr val="9FB3A6"/>
                </a:solidFill>
                <a:latin typeface="Avenir Next"/>
              </a:rPr>
              <a:t> — now grouping, filtering, and joining all just work.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2 · RESHAPE &amp;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17 / 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3090672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src/reshape.py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Find the header row instead of assuming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We locate the measurement row by its labels, so a drifting header can't fool 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690372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623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src/reshape.py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635508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MEASUREMENT_LABELS = {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</a:t>
            </a:r>
            <a:r>
              <a:rPr sz="1250" i="0">
                <a:solidFill>
                  <a:srgbClr val="7FD89A"/>
                </a:solidFill>
                <a:latin typeface="Menlo"/>
              </a:rPr>
              <a:t>"Irr (W/m2)"</a:t>
            </a:r>
            <a:r>
              <a:rPr sz="1250" i="0">
                <a:solidFill>
                  <a:srgbClr val="D7E0D5"/>
                </a:solidFill>
                <a:latin typeface="Menlo"/>
              </a:rPr>
              <a:t>, </a:t>
            </a:r>
            <a:r>
              <a:rPr sz="1250" i="0">
                <a:solidFill>
                  <a:srgbClr val="7FD89A"/>
                </a:solidFill>
                <a:latin typeface="Menlo"/>
              </a:rPr>
              <a:t>"T (oC)"</a:t>
            </a:r>
            <a:r>
              <a:rPr sz="1250" i="0">
                <a:solidFill>
                  <a:srgbClr val="D7E0D5"/>
                </a:solidFill>
                <a:latin typeface="Menlo"/>
              </a:rPr>
              <a:t>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</a:t>
            </a:r>
            <a:r>
              <a:rPr sz="1250" i="0">
                <a:solidFill>
                  <a:srgbClr val="7FD89A"/>
                </a:solidFill>
                <a:latin typeface="Menlo"/>
              </a:rPr>
              <a:t>"RH (%)"</a:t>
            </a:r>
            <a:r>
              <a:rPr sz="1250" i="0">
                <a:solidFill>
                  <a:srgbClr val="D7E0D5"/>
                </a:solidFill>
                <a:latin typeface="Menlo"/>
              </a:rPr>
              <a:t>, </a:t>
            </a:r>
            <a:r>
              <a:rPr sz="1250" i="0">
                <a:solidFill>
                  <a:srgbClr val="7FD89A"/>
                </a:solidFill>
                <a:latin typeface="Menlo"/>
              </a:rPr>
              <a:t>"P (mm)"</a:t>
            </a:r>
            <a:r>
              <a:rPr sz="1250" i="0">
                <a:solidFill>
                  <a:srgbClr val="D7E0D5"/>
                </a:solidFill>
                <a:latin typeface="Menlo"/>
              </a:rPr>
              <a:t>}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F7C948"/>
                </a:solidFill>
                <a:latin typeface="Menlo"/>
              </a:rPr>
              <a:t>def</a:t>
            </a:r>
            <a:r>
              <a:rPr sz="1250" i="0">
                <a:solidFill>
                  <a:srgbClr val="D7E0D5"/>
                </a:solidFill>
                <a:latin typeface="Menlo"/>
              </a:rPr>
              <a:t> detect_header_rows(raw):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</a:t>
            </a:r>
            <a:r>
              <a:rPr sz="1250" i="0">
                <a:solidFill>
                  <a:srgbClr val="F7C948"/>
                </a:solidFill>
                <a:latin typeface="Menlo"/>
              </a:rPr>
              <a:t>for</a:t>
            </a:r>
            <a:r>
              <a:rPr sz="1250" i="0">
                <a:solidFill>
                  <a:srgbClr val="D7E0D5"/>
                </a:solidFill>
                <a:latin typeface="Menlo"/>
              </a:rPr>
              <a:t> i </a:t>
            </a:r>
            <a:r>
              <a:rPr sz="1250" i="0">
                <a:solidFill>
                  <a:srgbClr val="F7C948"/>
                </a:solidFill>
                <a:latin typeface="Menlo"/>
              </a:rPr>
              <a:t>in</a:t>
            </a:r>
            <a:r>
              <a:rPr sz="1250" i="0">
                <a:solidFill>
                  <a:srgbClr val="D7E0D5"/>
                </a:solidFill>
                <a:latin typeface="Menlo"/>
              </a:rPr>
              <a:t> range(min(</a:t>
            </a:r>
            <a:r>
              <a:rPr sz="1250" i="0">
                <a:solidFill>
                  <a:srgbClr val="F0A868"/>
                </a:solidFill>
                <a:latin typeface="Menlo"/>
              </a:rPr>
              <a:t>6</a:t>
            </a:r>
            <a:r>
              <a:rPr sz="1250" i="0">
                <a:solidFill>
                  <a:srgbClr val="D7E0D5"/>
                </a:solidFill>
                <a:latin typeface="Menlo"/>
              </a:rPr>
              <a:t>, len(raw))):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labels = {</a:t>
            </a:r>
            <a:r>
              <a:rPr sz="1250" i="0">
                <a:solidFill>
                  <a:srgbClr val="F7C948"/>
                </a:solidFill>
                <a:latin typeface="Menlo"/>
              </a:rPr>
              <a:t>str</a:t>
            </a:r>
            <a:r>
              <a:rPr sz="1250" i="0">
                <a:solidFill>
                  <a:srgbClr val="D7E0D5"/>
                </a:solidFill>
                <a:latin typeface="Menlo"/>
              </a:rPr>
              <a:t>(v).strip()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          </a:t>
            </a:r>
            <a:r>
              <a:rPr sz="1250" i="0">
                <a:solidFill>
                  <a:srgbClr val="F7C948"/>
                </a:solidFill>
                <a:latin typeface="Menlo"/>
              </a:rPr>
              <a:t>for</a:t>
            </a:r>
            <a:r>
              <a:rPr sz="1250" i="0">
                <a:solidFill>
                  <a:srgbClr val="D7E0D5"/>
                </a:solidFill>
                <a:latin typeface="Menlo"/>
              </a:rPr>
              <a:t> v </a:t>
            </a:r>
            <a:r>
              <a:rPr sz="1250" i="0">
                <a:solidFill>
                  <a:srgbClr val="F7C948"/>
                </a:solidFill>
                <a:latin typeface="Menlo"/>
              </a:rPr>
              <a:t>in</a:t>
            </a:r>
            <a:r>
              <a:rPr sz="1250" i="0">
                <a:solidFill>
                  <a:srgbClr val="D7E0D5"/>
                </a:solidFill>
                <a:latin typeface="Menlo"/>
              </a:rPr>
              <a:t> raw.iloc[i]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          </a:t>
            </a:r>
            <a:r>
              <a:rPr sz="1250" i="0">
                <a:solidFill>
                  <a:srgbClr val="F7C948"/>
                </a:solidFill>
                <a:latin typeface="Menlo"/>
              </a:rPr>
              <a:t>if</a:t>
            </a:r>
            <a:r>
              <a:rPr sz="1250" i="0">
                <a:solidFill>
                  <a:srgbClr val="D7E0D5"/>
                </a:solidFill>
                <a:latin typeface="Menlo"/>
              </a:rPr>
              <a:t> isinstance(v, </a:t>
            </a:r>
            <a:r>
              <a:rPr sz="1250" i="0">
                <a:solidFill>
                  <a:srgbClr val="F7C948"/>
                </a:solidFill>
                <a:latin typeface="Menlo"/>
              </a:rPr>
              <a:t>str</a:t>
            </a:r>
            <a:r>
              <a:rPr sz="1250" i="0">
                <a:solidFill>
                  <a:srgbClr val="D7E0D5"/>
                </a:solidFill>
                <a:latin typeface="Menlo"/>
              </a:rPr>
              <a:t>)}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50" i="0">
                <a:solidFill>
                  <a:srgbClr val="F7C948"/>
                </a:solidFill>
                <a:latin typeface="Menlo"/>
              </a:rPr>
              <a:t>if</a:t>
            </a:r>
            <a:r>
              <a:rPr sz="1250" i="0">
                <a:solidFill>
                  <a:srgbClr val="D7E0D5"/>
                </a:solidFill>
                <a:latin typeface="Menlo"/>
              </a:rPr>
              <a:t> labels &amp; MEASUREMENT_LABELS: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    </a:t>
            </a:r>
            <a:r>
              <a:rPr sz="1250" i="0">
                <a:solidFill>
                  <a:srgbClr val="F7C948"/>
                </a:solidFill>
                <a:latin typeface="Menlo"/>
              </a:rPr>
              <a:t>return</a:t>
            </a:r>
            <a:r>
              <a:rPr sz="1250" i="0">
                <a:solidFill>
                  <a:srgbClr val="D7E0D5"/>
                </a:solidFill>
                <a:latin typeface="Menlo"/>
              </a:rPr>
              <a:t> i - </a:t>
            </a:r>
            <a:r>
              <a:rPr sz="1250" i="0">
                <a:solidFill>
                  <a:srgbClr val="F0A868"/>
                </a:solidFill>
                <a:latin typeface="Menlo"/>
              </a:rPr>
              <a:t>1</a:t>
            </a:r>
            <a:r>
              <a:rPr sz="1250" i="0">
                <a:solidFill>
                  <a:srgbClr val="D7E0D5"/>
                </a:solidFill>
                <a:latin typeface="Menlo"/>
              </a:rPr>
              <a:t>, i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</a:t>
            </a:r>
            <a:r>
              <a:rPr sz="1250" i="0">
                <a:solidFill>
                  <a:srgbClr val="F7C948"/>
                </a:solidFill>
                <a:latin typeface="Menlo"/>
              </a:rPr>
              <a:t>raise</a:t>
            </a:r>
            <a:r>
              <a:rPr sz="1250" i="0">
                <a:solidFill>
                  <a:srgbClr val="D7E0D5"/>
                </a:solidFill>
                <a:latin typeface="Menlo"/>
              </a:rPr>
              <a:t> ValueError(</a:t>
            </a:r>
            <a:r>
              <a:rPr sz="1250" i="0">
                <a:solidFill>
                  <a:srgbClr val="7FD89A"/>
                </a:solidFill>
                <a:latin typeface="Menlo"/>
              </a:rPr>
              <a:t>"No header row found"</a:t>
            </a:r>
            <a:r>
              <a:rPr sz="1250" i="0">
                <a:solidFill>
                  <a:srgbClr val="D7E0D5"/>
                </a:solidFill>
                <a:latin typeface="Menlo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04288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READ IT AS A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61488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Scan the top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63240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The measurement labels are the fingerprint we match.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840480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Plot row is above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42232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Return both: plot-code row and measurement row.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919472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Fail loudly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221224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A sheet with no header raises, never guesses.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2 · RESHAPE &amp;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18 / 55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3090672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src/reshape.py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Reshape one day into tidy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Forward-fill the merged plot codes, then emit one column of readings at a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708660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806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src/reshape.py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653796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F7C948"/>
                </a:solidFill>
                <a:latin typeface="Menlo"/>
              </a:rPr>
              <a:t>def</a:t>
            </a:r>
            <a:r>
              <a:rPr sz="1150" i="0">
                <a:solidFill>
                  <a:srgbClr val="D7E0D5"/>
                </a:solidFill>
                <a:latin typeface="Menlo"/>
              </a:rPr>
              <a:t> tidy_sheet(raw, sheet_date):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plot_row, meas_row = detect_header_rows(raw)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plots = raw.iloc[plot_row].ffill()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meas = raw.iloc[meas_row]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body = raw.iloc[meas_row + </a:t>
            </a:r>
            <a:r>
              <a:rPr sz="1150" i="0">
                <a:solidFill>
                  <a:srgbClr val="F0A868"/>
                </a:solidFill>
                <a:latin typeface="Menlo"/>
              </a:rPr>
              <a:t>1</a:t>
            </a:r>
            <a:r>
              <a:rPr sz="1150" i="0">
                <a:solidFill>
                  <a:srgbClr val="D7E0D5"/>
                </a:solidFill>
                <a:latin typeface="Menlo"/>
              </a:rPr>
              <a:t>:]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time = body.iloc[:, </a:t>
            </a:r>
            <a:r>
              <a:rPr sz="1150" i="0">
                <a:solidFill>
                  <a:srgbClr val="F0A868"/>
                </a:solidFill>
                <a:latin typeface="Menlo"/>
              </a:rPr>
              <a:t>0</a:t>
            </a:r>
            <a:r>
              <a:rPr sz="1150" i="0">
                <a:solidFill>
                  <a:srgbClr val="D7E0D5"/>
                </a:solidFill>
                <a:latin typeface="Menlo"/>
              </a:rPr>
              <a:t>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columns = []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</a:t>
            </a:r>
            <a:r>
              <a:rPr sz="1150" i="0">
                <a:solidFill>
                  <a:srgbClr val="F7C948"/>
                </a:solidFill>
                <a:latin typeface="Menlo"/>
              </a:rPr>
              <a:t>for</a:t>
            </a:r>
            <a:r>
              <a:rPr sz="1150" i="0">
                <a:solidFill>
                  <a:srgbClr val="D7E0D5"/>
                </a:solidFill>
                <a:latin typeface="Menlo"/>
              </a:rPr>
              <a:t> c </a:t>
            </a:r>
            <a:r>
              <a:rPr sz="1150" i="0">
                <a:solidFill>
                  <a:srgbClr val="F7C948"/>
                </a:solidFill>
                <a:latin typeface="Menlo"/>
              </a:rPr>
              <a:t>in</a:t>
            </a:r>
            <a:r>
              <a:rPr sz="1150" i="0">
                <a:solidFill>
                  <a:srgbClr val="D7E0D5"/>
                </a:solidFill>
                <a:latin typeface="Menlo"/>
              </a:rPr>
              <a:t> range(</a:t>
            </a:r>
            <a:r>
              <a:rPr sz="1150" i="0">
                <a:solidFill>
                  <a:srgbClr val="F0A868"/>
                </a:solidFill>
                <a:latin typeface="Menlo"/>
              </a:rPr>
              <a:t>1</a:t>
            </a:r>
            <a:r>
              <a:rPr sz="1150" i="0">
                <a:solidFill>
                  <a:srgbClr val="D7E0D5"/>
                </a:solidFill>
                <a:latin typeface="Menlo"/>
              </a:rPr>
              <a:t>, raw.shape[</a:t>
            </a:r>
            <a:r>
              <a:rPr sz="1150" i="0">
                <a:solidFill>
                  <a:srgbClr val="F0A868"/>
                </a:solidFill>
                <a:latin typeface="Menlo"/>
              </a:rPr>
              <a:t>1</a:t>
            </a:r>
            <a:r>
              <a:rPr sz="1150" i="0">
                <a:solidFill>
                  <a:srgbClr val="D7E0D5"/>
                </a:solidFill>
                <a:latin typeface="Menlo"/>
              </a:rPr>
              <a:t>]):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    p, m = plots.iloc[c], meas.iloc[c]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150" i="0">
                <a:solidFill>
                  <a:srgbClr val="F7C948"/>
                </a:solidFill>
                <a:latin typeface="Menlo"/>
              </a:rPr>
              <a:t>if</a:t>
            </a:r>
            <a:r>
              <a:rPr sz="1150" i="0">
                <a:solidFill>
                  <a:srgbClr val="D7E0D5"/>
                </a:solidFill>
                <a:latin typeface="Menlo"/>
              </a:rPr>
              <a:t> m </a:t>
            </a:r>
            <a:r>
              <a:rPr sz="1150" i="0">
                <a:solidFill>
                  <a:srgbClr val="F7C948"/>
                </a:solidFill>
                <a:latin typeface="Menlo"/>
              </a:rPr>
              <a:t>not</a:t>
            </a:r>
            <a:r>
              <a:rPr sz="1150" i="0">
                <a:solidFill>
                  <a:srgbClr val="D7E0D5"/>
                </a:solidFill>
                <a:latin typeface="Menlo"/>
              </a:rPr>
              <a:t> </a:t>
            </a:r>
            <a:r>
              <a:rPr sz="1150" i="0">
                <a:solidFill>
                  <a:srgbClr val="F7C948"/>
                </a:solidFill>
                <a:latin typeface="Menlo"/>
              </a:rPr>
              <a:t>in</a:t>
            </a:r>
            <a:r>
              <a:rPr sz="1150" i="0">
                <a:solidFill>
                  <a:srgbClr val="D7E0D5"/>
                </a:solidFill>
                <a:latin typeface="Menlo"/>
              </a:rPr>
              <a:t> MEASUREMENT_LABELS: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        continue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    columns.append(pd.DataFrame({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        </a:t>
            </a:r>
            <a:r>
              <a:rPr sz="1150" i="0">
                <a:solidFill>
                  <a:srgbClr val="7FD89A"/>
                </a:solidFill>
                <a:latin typeface="Menlo"/>
              </a:rPr>
              <a:t>"date"</a:t>
            </a:r>
            <a:r>
              <a:rPr sz="1150" i="0">
                <a:solidFill>
                  <a:srgbClr val="D7E0D5"/>
                </a:solidFill>
                <a:latin typeface="Menlo"/>
              </a:rPr>
              <a:t>: sheet_date, </a:t>
            </a:r>
            <a:r>
              <a:rPr sz="1150" i="0">
                <a:solidFill>
                  <a:srgbClr val="7FD89A"/>
                </a:solidFill>
                <a:latin typeface="Menlo"/>
              </a:rPr>
              <a:t>"raw_time"</a:t>
            </a:r>
            <a:r>
              <a:rPr sz="1150" i="0">
                <a:solidFill>
                  <a:srgbClr val="D7E0D5"/>
                </a:solidFill>
                <a:latin typeface="Menlo"/>
              </a:rPr>
              <a:t>: time,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        </a:t>
            </a:r>
            <a:r>
              <a:rPr sz="1150" i="0">
                <a:solidFill>
                  <a:srgbClr val="7FD89A"/>
                </a:solidFill>
                <a:latin typeface="Menlo"/>
              </a:rPr>
              <a:t>"plot_code"</a:t>
            </a:r>
            <a:r>
              <a:rPr sz="1150" i="0">
                <a:solidFill>
                  <a:srgbClr val="D7E0D5"/>
                </a:solidFill>
                <a:latin typeface="Menlo"/>
              </a:rPr>
              <a:t>: p, </a:t>
            </a:r>
            <a:r>
              <a:rPr sz="1150" i="0">
                <a:solidFill>
                  <a:srgbClr val="7FD89A"/>
                </a:solidFill>
                <a:latin typeface="Menlo"/>
              </a:rPr>
              <a:t>"measurement"</a:t>
            </a:r>
            <a:r>
              <a:rPr sz="1150" i="0">
                <a:solidFill>
                  <a:srgbClr val="D7E0D5"/>
                </a:solidFill>
                <a:latin typeface="Menlo"/>
              </a:rPr>
              <a:t>: m,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        </a:t>
            </a:r>
            <a:r>
              <a:rPr sz="1150" i="0">
                <a:solidFill>
                  <a:srgbClr val="7FD89A"/>
                </a:solidFill>
                <a:latin typeface="Menlo"/>
              </a:rPr>
              <a:t>"value"</a:t>
            </a:r>
            <a:r>
              <a:rPr sz="1150" i="0">
                <a:solidFill>
                  <a:srgbClr val="D7E0D5"/>
                </a:solidFill>
                <a:latin typeface="Menlo"/>
              </a:rPr>
              <a:t>: body.iloc[:, c]}))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</a:t>
            </a:r>
            <a:r>
              <a:rPr sz="1150" i="0">
                <a:solidFill>
                  <a:srgbClr val="F7C948"/>
                </a:solidFill>
                <a:latin typeface="Menlo"/>
              </a:rPr>
              <a:t>return</a:t>
            </a:r>
            <a:r>
              <a:rPr sz="1150" i="0">
                <a:solidFill>
                  <a:srgbClr val="D7E0D5"/>
                </a:solidFill>
                <a:latin typeface="Menlo"/>
              </a:rPr>
              <a:t> pd.concat(columns)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04288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THE KEY 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61488"/>
            <a:ext cx="3310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.ffill() the codes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63240"/>
            <a:ext cx="33101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Carries each plot code across its merged blanks.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3310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Skip non-sensors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142232"/>
            <a:ext cx="33101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Empty trailing columns never make it 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919472"/>
            <a:ext cx="3310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Concat to long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221224"/>
            <a:ext cx="33101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One tidy frame per column, stacked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2 · RESHAPE &amp;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19 / 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3593591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src/profile_data.py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Profile the tidy readings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One row per column turns a million readings into a readable diagnostic.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672084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4406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src/profile_data.py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617220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F7C948"/>
                </a:solidFill>
                <a:latin typeface="Menlo"/>
              </a:rPr>
              <a:t>def</a:t>
            </a:r>
            <a:r>
              <a:rPr sz="1250" i="0">
                <a:solidFill>
                  <a:srgbClr val="D7E0D5"/>
                </a:solidFill>
                <a:latin typeface="Menlo"/>
              </a:rPr>
              <a:t> profile_table(df):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</a:t>
            </a:r>
            <a:r>
              <a:rPr sz="1250" i="0">
                <a:solidFill>
                  <a:srgbClr val="F7C948"/>
                </a:solidFill>
                <a:latin typeface="Menlo"/>
              </a:rPr>
              <a:t>return</a:t>
            </a:r>
            <a:r>
              <a:rPr sz="1250" i="0">
                <a:solidFill>
                  <a:srgbClr val="D7E0D5"/>
                </a:solidFill>
                <a:latin typeface="Menlo"/>
              </a:rPr>
              <a:t> pd.DataFrame({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50" i="0">
                <a:solidFill>
                  <a:srgbClr val="7FD89A"/>
                </a:solidFill>
                <a:latin typeface="Menlo"/>
              </a:rPr>
              <a:t>"column"</a:t>
            </a:r>
            <a:r>
              <a:rPr sz="1250" i="0">
                <a:solidFill>
                  <a:srgbClr val="D7E0D5"/>
                </a:solidFill>
                <a:latin typeface="Menlo"/>
              </a:rPr>
              <a:t>: df.columns,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50" i="0">
                <a:solidFill>
                  <a:srgbClr val="7FD89A"/>
                </a:solidFill>
                <a:latin typeface="Menlo"/>
              </a:rPr>
              <a:t>"dtype"</a:t>
            </a:r>
            <a:r>
              <a:rPr sz="1250" i="0">
                <a:solidFill>
                  <a:srgbClr val="D7E0D5"/>
                </a:solidFill>
                <a:latin typeface="Menlo"/>
              </a:rPr>
              <a:t>: [</a:t>
            </a:r>
            <a:r>
              <a:rPr sz="1250" i="0">
                <a:solidFill>
                  <a:srgbClr val="F7C948"/>
                </a:solidFill>
                <a:latin typeface="Menlo"/>
              </a:rPr>
              <a:t>str</a:t>
            </a:r>
            <a:r>
              <a:rPr sz="1250" i="0">
                <a:solidFill>
                  <a:srgbClr val="D7E0D5"/>
                </a:solidFill>
                <a:latin typeface="Menlo"/>
              </a:rPr>
              <a:t>(df[c].dtype)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          </a:t>
            </a:r>
            <a:r>
              <a:rPr sz="1250" i="0">
                <a:solidFill>
                  <a:srgbClr val="F7C948"/>
                </a:solidFill>
                <a:latin typeface="Menlo"/>
              </a:rPr>
              <a:t>for</a:t>
            </a:r>
            <a:r>
              <a:rPr sz="1250" i="0">
                <a:solidFill>
                  <a:srgbClr val="D7E0D5"/>
                </a:solidFill>
                <a:latin typeface="Menlo"/>
              </a:rPr>
              <a:t> c </a:t>
            </a:r>
            <a:r>
              <a:rPr sz="1250" i="0">
                <a:solidFill>
                  <a:srgbClr val="F7C948"/>
                </a:solidFill>
                <a:latin typeface="Menlo"/>
              </a:rPr>
              <a:t>in</a:t>
            </a:r>
            <a:r>
              <a:rPr sz="1250" i="0">
                <a:solidFill>
                  <a:srgbClr val="D7E0D5"/>
                </a:solidFill>
                <a:latin typeface="Menlo"/>
              </a:rPr>
              <a:t> df.columns],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50" i="0">
                <a:solidFill>
                  <a:srgbClr val="7FD89A"/>
                </a:solidFill>
                <a:latin typeface="Menlo"/>
              </a:rPr>
              <a:t>"missing_pct"</a:t>
            </a:r>
            <a:r>
              <a:rPr sz="1250" i="0">
                <a:solidFill>
                  <a:srgbClr val="D7E0D5"/>
                </a:solidFill>
                <a:latin typeface="Menlo"/>
              </a:rPr>
              <a:t>: [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    </a:t>
            </a:r>
            <a:r>
              <a:rPr sz="1250" i="0">
                <a:solidFill>
                  <a:srgbClr val="F7C948"/>
                </a:solidFill>
                <a:latin typeface="Menlo"/>
              </a:rPr>
              <a:t>round</a:t>
            </a:r>
            <a:r>
              <a:rPr sz="1250" i="0">
                <a:solidFill>
                  <a:srgbClr val="D7E0D5"/>
                </a:solidFill>
                <a:latin typeface="Menlo"/>
              </a:rPr>
              <a:t>(df[c].isna().mean() * </a:t>
            </a:r>
            <a:r>
              <a:rPr sz="1250" i="0">
                <a:solidFill>
                  <a:srgbClr val="F0A868"/>
                </a:solidFill>
                <a:latin typeface="Menlo"/>
              </a:rPr>
              <a:t>100</a:t>
            </a:r>
            <a:r>
              <a:rPr sz="1250" i="0">
                <a:solidFill>
                  <a:srgbClr val="D7E0D5"/>
                </a:solidFill>
                <a:latin typeface="Menlo"/>
              </a:rPr>
              <a:t>, </a:t>
            </a:r>
            <a:r>
              <a:rPr sz="1250" i="0">
                <a:solidFill>
                  <a:srgbClr val="F0A868"/>
                </a:solidFill>
                <a:latin typeface="Menlo"/>
              </a:rPr>
              <a:t>2</a:t>
            </a:r>
            <a:r>
              <a:rPr sz="125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    </a:t>
            </a:r>
            <a:r>
              <a:rPr sz="1250" i="0">
                <a:solidFill>
                  <a:srgbClr val="F7C948"/>
                </a:solidFill>
                <a:latin typeface="Menlo"/>
              </a:rPr>
              <a:t>for</a:t>
            </a:r>
            <a:r>
              <a:rPr sz="1250" i="0">
                <a:solidFill>
                  <a:srgbClr val="D7E0D5"/>
                </a:solidFill>
                <a:latin typeface="Menlo"/>
              </a:rPr>
              <a:t> c </a:t>
            </a:r>
            <a:r>
              <a:rPr sz="1250" i="0">
                <a:solidFill>
                  <a:srgbClr val="F7C948"/>
                </a:solidFill>
                <a:latin typeface="Menlo"/>
              </a:rPr>
              <a:t>in</a:t>
            </a:r>
            <a:r>
              <a:rPr sz="1250" i="0">
                <a:solidFill>
                  <a:srgbClr val="D7E0D5"/>
                </a:solidFill>
                <a:latin typeface="Menlo"/>
              </a:rPr>
              <a:t> df.columns],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50" i="0">
                <a:solidFill>
                  <a:srgbClr val="7FD89A"/>
                </a:solidFill>
                <a:latin typeface="Menlo"/>
              </a:rPr>
              <a:t>"unique_values"</a:t>
            </a:r>
            <a:r>
              <a:rPr sz="1250" i="0">
                <a:solidFill>
                  <a:srgbClr val="D7E0D5"/>
                </a:solidFill>
                <a:latin typeface="Menlo"/>
              </a:rPr>
              <a:t>: [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        df[c].nunique() </a:t>
            </a:r>
            <a:r>
              <a:rPr sz="1250" i="0">
                <a:solidFill>
                  <a:srgbClr val="F7C948"/>
                </a:solidFill>
                <a:latin typeface="Menlo"/>
              </a:rPr>
              <a:t>for</a:t>
            </a:r>
            <a:r>
              <a:rPr sz="1250" i="0">
                <a:solidFill>
                  <a:srgbClr val="D7E0D5"/>
                </a:solidFill>
                <a:latin typeface="Menlo"/>
              </a:rPr>
              <a:t> c </a:t>
            </a:r>
            <a:r>
              <a:rPr sz="1250" i="0">
                <a:solidFill>
                  <a:srgbClr val="F7C948"/>
                </a:solidFill>
                <a:latin typeface="Menlo"/>
              </a:rPr>
              <a:t>in</a:t>
            </a:r>
            <a:r>
              <a:rPr sz="1250" i="0">
                <a:solidFill>
                  <a:srgbClr val="D7E0D5"/>
                </a:solidFill>
                <a:latin typeface="Menlo"/>
              </a:rPr>
              <a:t> df.columns],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042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READ IT AS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761488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What is each column?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063240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Name and dtype, straight from the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40480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How much is missing?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142232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Sensor gaps show up as a missing percentage.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919472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How many distinct?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221224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Cardinality hints at codes vs measurements.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2 · RESHAPE &amp;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20 / 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INSPECT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Read the real profile like a detective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These are the actual numbers from 1.1M readings — each one is a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95728"/>
            <a:ext cx="10881360" cy="457200"/>
          </a:xfrm>
          <a:prstGeom prst="roundRect">
            <a:avLst>
              <a:gd name="adj" fmla="val 4000"/>
            </a:avLst>
          </a:prstGeom>
          <a:solidFill>
            <a:srgbClr val="1E33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395728"/>
            <a:ext cx="30815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D17A"/>
                </a:solidFill>
                <a:latin typeface="Menlo"/>
              </a:rPr>
              <a:t>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395728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D17A"/>
                </a:solidFill>
                <a:latin typeface="Menlo"/>
              </a:rPr>
              <a:t>dtype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0606" y="2395728"/>
            <a:ext cx="22110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D17A"/>
                </a:solidFill>
                <a:latin typeface="Menlo"/>
              </a:rPr>
              <a:t>missing_pct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4505" y="2395728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D17A"/>
                </a:solidFill>
                <a:latin typeface="Menlo"/>
              </a:rPr>
              <a:t>unique_values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07792"/>
            <a:ext cx="10881360" cy="457200"/>
          </a:xfrm>
          <a:prstGeom prst="roundRect">
            <a:avLst>
              <a:gd name="adj" fmla="val 4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907792"/>
            <a:ext cx="30815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3F1E9"/>
                </a:solidFill>
                <a:latin typeface="Menlo"/>
              </a:rP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907792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float64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0606" y="2907792"/>
            <a:ext cx="22110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46.32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4505" y="2907792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3723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419856"/>
            <a:ext cx="30815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3F1E9"/>
                </a:solidFill>
                <a:latin typeface="Menlo"/>
              </a:rPr>
              <a:t>raw_time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419856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0606" y="3419856"/>
            <a:ext cx="22110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2.62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4505" y="3419856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424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31920"/>
            <a:ext cx="10881360" cy="457200"/>
          </a:xfrm>
          <a:prstGeom prst="roundRect">
            <a:avLst>
              <a:gd name="adj" fmla="val 4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" y="3931920"/>
            <a:ext cx="30815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3F1E9"/>
                </a:solidFill>
                <a:latin typeface="Menlo"/>
              </a:rPr>
              <a:t>timestamp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931920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datetime64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0606" y="3931920"/>
            <a:ext cx="22110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3.10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4505" y="3931920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31207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4443984"/>
            <a:ext cx="30815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3F1E9"/>
                </a:solidFill>
                <a:latin typeface="Menlo"/>
              </a:rPr>
              <a:t>plot_code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4443984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str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0606" y="4443984"/>
            <a:ext cx="22110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0.00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4505" y="4443984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956048"/>
            <a:ext cx="10881360" cy="457200"/>
          </a:xfrm>
          <a:prstGeom prst="roundRect">
            <a:avLst>
              <a:gd name="adj" fmla="val 4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1" y="4956048"/>
            <a:ext cx="30815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3F1E9"/>
                </a:solidFill>
                <a:latin typeface="Menlo"/>
              </a:rPr>
              <a:t>measurement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956048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str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0606" y="4956048"/>
            <a:ext cx="22110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0.00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4505" y="4956048"/>
            <a:ext cx="242864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Menlo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71500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71500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3F1E9"/>
                </a:solidFill>
                <a:latin typeface="Avenir Next"/>
              </a:rPr>
              <a:t>46% of values are missing — </a:t>
            </a:r>
            <a:r>
              <a:rPr sz="1400" b="1" i="0">
                <a:solidFill>
                  <a:srgbClr val="F7C948"/>
                </a:solidFill>
                <a:latin typeface="Avenir Next"/>
              </a:rPr>
              <a:t>sensor gaps, not errors. That's a lead to understand, not erase.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2 · RESHAPE &amp; PROFILE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21 / 55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Reshape and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Get every day into one tidy table, then measure what you have.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024128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 w="19050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2070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7C948"/>
                </a:solidFill>
                <a:latin typeface="Avenir Nex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65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3A6"/>
                </a:solidFill>
                <a:latin typeface="Avenir Next"/>
              </a:rPr>
              <a:t>MINUTES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14016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Reshape one day-sheet with </a:t>
            </a:r>
            <a:r>
              <a:rPr sz="1350" b="0" i="0">
                <a:solidFill>
                  <a:srgbClr val="54D17A"/>
                </a:solidFill>
                <a:latin typeface="Menlo"/>
              </a:rPr>
              <a:t>tidy_sheet()</a:t>
            </a:r>
            <a:r>
              <a:rPr sz="1550" b="0" i="0">
                <a:solidFill>
                  <a:srgbClr val="F3F1E9"/>
                </a:solidFill>
                <a:latin typeface="Avenir Next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63824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Build the full long table across all files.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13631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Profile it — find the </a:t>
            </a:r>
            <a:r>
              <a:rPr sz="1350" b="0" i="0">
                <a:solidFill>
                  <a:srgbClr val="54D17A"/>
                </a:solidFill>
                <a:latin typeface="Menlo"/>
              </a:rPr>
              <a:t>missing_pct</a:t>
            </a:r>
            <a:r>
              <a:rPr sz="1550" b="0" i="0">
                <a:solidFill>
                  <a:srgbClr val="F3F1E9"/>
                </a:solidFill>
                <a:latin typeface="Avenir Next"/>
              </a:rPr>
              <a:t> of value.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6344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Find one column whose cardinality surprises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B3A6"/>
                </a:solidFill>
                <a:latin typeface="Avenir Next"/>
              </a:rPr>
              <a:t>WORK IN   </a:t>
            </a:r>
            <a:r>
              <a:rPr sz="1350" b="0" i="0">
                <a:solidFill>
                  <a:srgbClr val="F7C948"/>
                </a:solidFill>
                <a:latin typeface="Menlo"/>
              </a:rPr>
              <a:t>src/reshape.py · src/profile_data.py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2 · RESHAPE &amp;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22 / 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3F1E9"/>
                </a:solidFill>
                <a:latin typeface="Avenir Next"/>
              </a:rPr>
              <a:t>We can describe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A6"/>
                </a:solidFill>
                <a:latin typeface="Avenir Next"/>
              </a:rPr>
              <a:t>Pause and check the result before we add another layer.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7706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Every day-sheet reshapes into tidy long rows.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38727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5204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The full table holds all 1.1M readings.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288536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27024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Missingness and cardinality are measured, not guessed.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038344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50200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The raw evidence is still untouched.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2 · RESHAPE &amp;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23 / 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54D17A"/>
                </a:solidFill>
                <a:latin typeface="Avenir Next"/>
              </a:rP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3401568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MODULE 3  ·  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22191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3F1E9"/>
                </a:solidFill>
                <a:latin typeface="Avenir Next"/>
              </a:rPr>
              <a:t>Define the Data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828032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FB3A6"/>
                </a:solidFill>
                <a:latin typeface="Avenir Next"/>
              </a:rPr>
              <a:t>The plot codes carry the whole experiment. Make that meaning explicit.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6692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You leave with   </a:t>
            </a:r>
            <a:r>
              <a:rPr sz="1400" b="1" i="0">
                <a:solidFill>
                  <a:srgbClr val="F3F1E9"/>
                </a:solidFill>
                <a:latin typeface="Avenir Next"/>
              </a:rPr>
              <a:t>a decoded vocabulary that turns cryptic codes into treatments, stations, and units.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24 / 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The plot codes ARE the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Three plots answer Ama's question — and every code names one of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42615"/>
            <a:ext cx="146304" cy="146304"/>
          </a:xfrm>
          <a:prstGeom prst="ellipse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19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AO — Plot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Open control field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No panels, full sun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The crop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38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48200" y="2642615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22520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AG — Plot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64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Agrivoltaic system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Raised panels + crops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The treatment we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80" y="2331720"/>
            <a:ext cx="3413760" cy="31089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82000" y="2642615"/>
            <a:ext cx="146304" cy="146304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56320" y="2569463"/>
            <a:ext cx="2682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PO — Plot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3099815"/>
            <a:ext cx="284683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Ground-mounted PV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Bare land, energy only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Full-sun light reference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Suffixes name the sensor:  </a:t>
            </a:r>
            <a:r>
              <a:rPr sz="1400" b="1" i="0">
                <a:solidFill>
                  <a:srgbClr val="F3F1E9"/>
                </a:solidFill>
                <a:latin typeface="Avenir Next"/>
              </a:rPr>
              <a:t>PV</a:t>
            </a:r>
            <a:r>
              <a:rPr sz="1400" b="0" i="0">
                <a:solidFill>
                  <a:srgbClr val="9FB3A6"/>
                </a:solidFill>
                <a:latin typeface="Avenir Next"/>
              </a:rPr>
              <a:t> = irradiance · </a:t>
            </a:r>
            <a:r>
              <a:rPr sz="1400" b="1" i="0">
                <a:solidFill>
                  <a:srgbClr val="F3F1E9"/>
                </a:solidFill>
                <a:latin typeface="Avenir Next"/>
              </a:rPr>
              <a:t>TI / SS</a:t>
            </a:r>
            <a:r>
              <a:rPr sz="1400" b="0" i="0">
                <a:solidFill>
                  <a:srgbClr val="9FB3A6"/>
                </a:solidFill>
                <a:latin typeface="Avenir Next"/>
              </a:rPr>
              <a:t> = temp &amp; humidity stations · </a:t>
            </a:r>
            <a:r>
              <a:rPr sz="1400" b="1" i="0">
                <a:solidFill>
                  <a:srgbClr val="F3F1E9"/>
                </a:solidFill>
                <a:latin typeface="Avenir Next"/>
              </a:rPr>
              <a:t>WS</a:t>
            </a:r>
            <a:r>
              <a:rPr sz="1400" b="0" i="0">
                <a:solidFill>
                  <a:srgbClr val="9FB3A6"/>
                </a:solidFill>
                <a:latin typeface="Avenir Next"/>
              </a:rPr>
              <a:t> = weather 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3 ·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25 / 55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Schema is necessary, but not sufficient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Structure says how data is represented; a contract says what it means.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57800" cy="292608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88336"/>
            <a:ext cx="146304" cy="146304"/>
          </a:xfrm>
          <a:prstGeom prst="ellipse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1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Schema check  —  can we read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45536"/>
            <a:ext cx="469087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The value column is numeric.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The plot_code column exists.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The time string parses.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77440"/>
            <a:ext cx="5257800" cy="292608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59" y="2688336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7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Contract check  —  can we trust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3145536"/>
            <a:ext cx="469087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AG means agrivoltaic, always.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Irradiance is in W/m², 0–1500.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Each row is one timed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Schema answers </a:t>
            </a:r>
            <a:r>
              <a:rPr sz="1400" b="1" i="0">
                <a:solidFill>
                  <a:srgbClr val="F7C948"/>
                </a:solidFill>
                <a:latin typeface="Avenir Next"/>
              </a:rPr>
              <a:t>“can we read it?”</a:t>
            </a:r>
            <a:r>
              <a:rPr sz="1400" b="0" i="0">
                <a:solidFill>
                  <a:srgbClr val="9FB3A6"/>
                </a:solidFill>
                <a:latin typeface="Avenir Next"/>
              </a:rPr>
              <a:t>   Contract answers </a:t>
            </a:r>
            <a:r>
              <a:rPr sz="1400" b="1" i="0">
                <a:solidFill>
                  <a:srgbClr val="54D17A"/>
                </a:solidFill>
                <a:latin typeface="Avenir Next"/>
              </a:rPr>
              <a:t>“do we know what it means?”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3 ·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26 / 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Decode one plot code into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Every code splits into a treatment, a sensor station, and a replicate.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840480" cy="914400"/>
          </a:xfrm>
          <a:prstGeom prst="roundRect">
            <a:avLst>
              <a:gd name="adj" fmla="val 12000"/>
            </a:avLst>
          </a:prstGeom>
          <a:solidFill>
            <a:srgbClr val="1E3327"/>
          </a:solidFill>
          <a:ln w="1270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4D17A"/>
                </a:solidFill>
                <a:latin typeface="Menlo"/>
              </a:rPr>
              <a:t>AG-PV 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743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7C948"/>
                </a:solidFill>
                <a:latin typeface="Avenir Nex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395728"/>
            <a:ext cx="6126480" cy="60350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2395728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C948"/>
                </a:solidFill>
                <a:latin typeface="Menlo"/>
              </a:rPr>
              <a:t>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95728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treatment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395728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1E9"/>
                </a:solidFill>
                <a:latin typeface="Avenir Next"/>
              </a:rPr>
              <a:t>agrivoltaic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108960"/>
            <a:ext cx="6126480" cy="60350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77840" y="3108960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C948"/>
                </a:solidFill>
                <a:latin typeface="Menlo"/>
              </a:rPr>
              <a:t>PV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08960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station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108960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1E9"/>
                </a:solidFill>
                <a:latin typeface="Avenir Next"/>
              </a:rPr>
              <a:t>irradiance sensor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3822191"/>
            <a:ext cx="6126480" cy="603504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0" y="3822191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C948"/>
                </a:solidFill>
                <a:latin typeface="Menlo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22191"/>
            <a:ext cx="20116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replicate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822191"/>
            <a:ext cx="27432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3F1E9"/>
                </a:solidFill>
                <a:latin typeface="Avenir Next"/>
              </a:rPr>
              <a:t>plot 3 of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Decode once, in one place, </a:t>
            </a:r>
            <a:r>
              <a:rPr sz="1400" b="0" i="0">
                <a:solidFill>
                  <a:srgbClr val="F3F1E9"/>
                </a:solidFill>
                <a:latin typeface="Avenir Next"/>
              </a:rPr>
              <a:t>and the whole pipeline speaks treatments instead of codes.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3 ·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27 / 55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3191256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src/contract.py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Encode the legend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A small map and a split turn every code into structured, trustworthy fields.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690372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623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src/contract.py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90409"/>
            <a:ext cx="635508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TREATMENT_BY_PREFIX = {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7FD89A"/>
                </a:solidFill>
                <a:latin typeface="Menlo"/>
              </a:rPr>
              <a:t>"AG"</a:t>
            </a:r>
            <a:r>
              <a:rPr sz="1200" i="0">
                <a:solidFill>
                  <a:srgbClr val="D7E0D5"/>
                </a:solidFill>
                <a:latin typeface="Menlo"/>
              </a:rPr>
              <a:t>: </a:t>
            </a:r>
            <a:r>
              <a:rPr sz="1200" i="0">
                <a:solidFill>
                  <a:srgbClr val="7FD89A"/>
                </a:solidFill>
                <a:latin typeface="Menlo"/>
              </a:rPr>
              <a:t>"agrivoltaic"</a:t>
            </a:r>
            <a:r>
              <a:rPr sz="1200" i="0">
                <a:solidFill>
                  <a:srgbClr val="D7E0D5"/>
                </a:solidFill>
                <a:latin typeface="Menlo"/>
              </a:rPr>
              <a:t>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7FD89A"/>
                </a:solidFill>
                <a:latin typeface="Menlo"/>
              </a:rPr>
              <a:t>"AO"</a:t>
            </a:r>
            <a:r>
              <a:rPr sz="1200" i="0">
                <a:solidFill>
                  <a:srgbClr val="D7E0D5"/>
                </a:solidFill>
                <a:latin typeface="Menlo"/>
              </a:rPr>
              <a:t>: </a:t>
            </a:r>
            <a:r>
              <a:rPr sz="1200" i="0">
                <a:solidFill>
                  <a:srgbClr val="7FD89A"/>
                </a:solidFill>
                <a:latin typeface="Menlo"/>
              </a:rPr>
              <a:t>"open_sun_control"</a:t>
            </a:r>
            <a:r>
              <a:rPr sz="1200" i="0">
                <a:solidFill>
                  <a:srgbClr val="D7E0D5"/>
                </a:solidFill>
                <a:latin typeface="Menlo"/>
              </a:rPr>
              <a:t>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7FD89A"/>
                </a:solidFill>
                <a:latin typeface="Menlo"/>
              </a:rPr>
              <a:t>"PO"</a:t>
            </a:r>
            <a:r>
              <a:rPr sz="1200" i="0">
                <a:solidFill>
                  <a:srgbClr val="D7E0D5"/>
                </a:solidFill>
                <a:latin typeface="Menlo"/>
              </a:rPr>
              <a:t>: </a:t>
            </a:r>
            <a:r>
              <a:rPr sz="1200" i="0">
                <a:solidFill>
                  <a:srgbClr val="7FD89A"/>
                </a:solidFill>
                <a:latin typeface="Menlo"/>
              </a:rPr>
              <a:t>"ground_mounted_pv"</a:t>
            </a:r>
            <a:r>
              <a:rPr sz="1200" i="0">
                <a:solidFill>
                  <a:srgbClr val="D7E0D5"/>
                </a:solidFill>
                <a:latin typeface="Menlo"/>
              </a:rPr>
              <a:t>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7FD89A"/>
                </a:solidFill>
                <a:latin typeface="Menlo"/>
              </a:rPr>
              <a:t>"WS"</a:t>
            </a:r>
            <a:r>
              <a:rPr sz="1200" i="0">
                <a:solidFill>
                  <a:srgbClr val="D7E0D5"/>
                </a:solidFill>
                <a:latin typeface="Menlo"/>
              </a:rPr>
              <a:t>: </a:t>
            </a:r>
            <a:r>
              <a:rPr sz="1200" i="0">
                <a:solidFill>
                  <a:srgbClr val="7FD89A"/>
                </a:solidFill>
                <a:latin typeface="Menlo"/>
              </a:rPr>
              <a:t>"ambient"</a:t>
            </a:r>
            <a:r>
              <a:rPr sz="1200" i="0">
                <a:solidFill>
                  <a:srgbClr val="D7E0D5"/>
                </a:solidFill>
                <a:latin typeface="Menlo"/>
              </a:rPr>
              <a:t>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}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7C948"/>
                </a:solidFill>
                <a:latin typeface="Menlo"/>
              </a:rPr>
              <a:t>def</a:t>
            </a:r>
            <a:r>
              <a:rPr sz="1200" i="0">
                <a:solidFill>
                  <a:srgbClr val="D7E0D5"/>
                </a:solidFill>
                <a:latin typeface="Menlo"/>
              </a:rPr>
              <a:t> parse_plot_code(code):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base, _, replicate = code.partition(</a:t>
            </a:r>
            <a:r>
              <a:rPr sz="1200" i="0">
                <a:solidFill>
                  <a:srgbClr val="7FD89A"/>
                </a:solidFill>
                <a:latin typeface="Menlo"/>
              </a:rPr>
              <a:t>" "</a:t>
            </a:r>
            <a:r>
              <a:rPr sz="120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prefix, _, station = base.partition(</a:t>
            </a:r>
            <a:r>
              <a:rPr sz="1200" i="0">
                <a:solidFill>
                  <a:srgbClr val="7FD89A"/>
                </a:solidFill>
                <a:latin typeface="Menlo"/>
              </a:rPr>
              <a:t>"-"</a:t>
            </a:r>
            <a:r>
              <a:rPr sz="120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F7C948"/>
                </a:solidFill>
                <a:latin typeface="Menlo"/>
              </a:rPr>
              <a:t>return</a:t>
            </a:r>
            <a:r>
              <a:rPr sz="1200" i="0">
                <a:solidFill>
                  <a:srgbClr val="D7E0D5"/>
                </a:solidFill>
                <a:latin typeface="Menlo"/>
              </a:rPr>
              <a:t> {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00" i="0">
                <a:solidFill>
                  <a:srgbClr val="7FD89A"/>
                </a:solidFill>
                <a:latin typeface="Menlo"/>
              </a:rPr>
              <a:t>"treatment"</a:t>
            </a:r>
            <a:r>
              <a:rPr sz="1200" i="0">
                <a:solidFill>
                  <a:srgbClr val="D7E0D5"/>
                </a:solidFill>
                <a:latin typeface="Menlo"/>
              </a:rPr>
              <a:t>: TREATMENT_BY_PREFIX.get(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prefix, </a:t>
            </a:r>
            <a:r>
              <a:rPr sz="1200" i="0">
                <a:solidFill>
                  <a:srgbClr val="7FD89A"/>
                </a:solidFill>
                <a:latin typeface="Menlo"/>
              </a:rPr>
              <a:t>"unknown"</a:t>
            </a:r>
            <a:r>
              <a:rPr sz="1200" i="0">
                <a:solidFill>
                  <a:srgbClr val="D7E0D5"/>
                </a:solidFill>
                <a:latin typeface="Menlo"/>
              </a:rPr>
              <a:t>),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00" i="0">
                <a:solidFill>
                  <a:srgbClr val="7FD89A"/>
                </a:solidFill>
                <a:latin typeface="Menlo"/>
              </a:rPr>
              <a:t>"station"</a:t>
            </a:r>
            <a:r>
              <a:rPr sz="1200" i="0">
                <a:solidFill>
                  <a:srgbClr val="D7E0D5"/>
                </a:solidFill>
                <a:latin typeface="Menlo"/>
              </a:rPr>
              <a:t>: station </a:t>
            </a:r>
            <a:r>
              <a:rPr sz="1200" i="0">
                <a:solidFill>
                  <a:srgbClr val="F7C948"/>
                </a:solidFill>
                <a:latin typeface="Menlo"/>
              </a:rPr>
              <a:t>or</a:t>
            </a:r>
            <a:r>
              <a:rPr sz="1200" i="0">
                <a:solidFill>
                  <a:srgbClr val="D7E0D5"/>
                </a:solidFill>
                <a:latin typeface="Menlo"/>
              </a:rPr>
              <a:t> </a:t>
            </a:r>
            <a:r>
              <a:rPr sz="1200" i="0">
                <a:solidFill>
                  <a:srgbClr val="F7C948"/>
                </a:solidFill>
                <a:latin typeface="Menlo"/>
              </a:rPr>
              <a:t>None</a:t>
            </a:r>
            <a:r>
              <a:rPr sz="1200" i="0">
                <a:solidFill>
                  <a:srgbClr val="D7E0D5"/>
                </a:solidFill>
                <a:latin typeface="Menlo"/>
              </a:rPr>
              <a:t>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00" i="0">
                <a:solidFill>
                  <a:srgbClr val="7FD89A"/>
                </a:solidFill>
                <a:latin typeface="Menlo"/>
              </a:rPr>
              <a:t>"replicate"</a:t>
            </a:r>
            <a:r>
              <a:rPr sz="1200" i="0">
                <a:solidFill>
                  <a:srgbClr val="D7E0D5"/>
                </a:solidFill>
                <a:latin typeface="Menlo"/>
              </a:rPr>
              <a:t>: replicate </a:t>
            </a:r>
            <a:r>
              <a:rPr sz="1200" i="0">
                <a:solidFill>
                  <a:srgbClr val="F7C948"/>
                </a:solidFill>
                <a:latin typeface="Menlo"/>
              </a:rPr>
              <a:t>or</a:t>
            </a:r>
            <a:r>
              <a:rPr sz="1200" i="0">
                <a:solidFill>
                  <a:srgbClr val="D7E0D5"/>
                </a:solidFill>
                <a:latin typeface="Menlo"/>
              </a:rPr>
              <a:t> </a:t>
            </a:r>
            <a:r>
              <a:rPr sz="1200" i="0">
                <a:solidFill>
                  <a:srgbClr val="F7C948"/>
                </a:solidFill>
                <a:latin typeface="Menlo"/>
              </a:rPr>
              <a:t>None</a:t>
            </a:r>
            <a:r>
              <a:rPr sz="1200" i="0">
                <a:solidFill>
                  <a:srgbClr val="D7E0D5"/>
                </a:solidFill>
                <a:latin typeface="Menlo"/>
              </a:rPr>
              <a:t>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04288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ONE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61488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The map is the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63240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Allowed prefixes live in exactly one place.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840480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Unknown stays visible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42232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An unmapped prefix becomes 'unknown', not a crash.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919472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Pure and testable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221224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Give it a string, get back meaning.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3 ·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28 / 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Draft the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Turn the codes you profiled into a decoded, stable vocabulary.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024128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 w="19050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2070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7C948"/>
                </a:solidFill>
                <a:latin typeface="Avenir Nex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65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3A6"/>
                </a:solidFill>
                <a:latin typeface="Avenir Next"/>
              </a:rPr>
              <a:t>MINUTES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14016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Map each prefix (AG/AO/PO/WS) to a treatment.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63824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Run </a:t>
            </a:r>
            <a:r>
              <a:rPr sz="1350" b="0" i="0">
                <a:solidFill>
                  <a:srgbClr val="54D17A"/>
                </a:solidFill>
                <a:latin typeface="Menlo"/>
              </a:rPr>
              <a:t>parse_plot_code()</a:t>
            </a:r>
            <a:r>
              <a:rPr sz="1550" b="0" i="0">
                <a:solidFill>
                  <a:srgbClr val="F3F1E9"/>
                </a:solidFill>
                <a:latin typeface="Avenir Next"/>
              </a:rPr>
              <a:t> on a few real codes.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13631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Apply the contract to add treatment + station.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6344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List the allowed range for each measurement.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B3A6"/>
                </a:solidFill>
                <a:latin typeface="Avenir Next"/>
              </a:rPr>
              <a:t>WORK IN   </a:t>
            </a:r>
            <a:r>
              <a:rPr sz="1350" b="0" i="0">
                <a:solidFill>
                  <a:srgbClr val="F7C948"/>
                </a:solidFill>
                <a:latin typeface="Menlo"/>
              </a:rPr>
              <a:t>src/contract.py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3 ·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29 / 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3F1E9"/>
                </a:solidFill>
                <a:latin typeface="Avenir Next"/>
              </a:rPr>
              <a:t>The pipeline has a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A6"/>
                </a:solidFill>
                <a:latin typeface="Avenir Next"/>
              </a:rPr>
              <a:t>Pause and check the result before we add another layer.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7706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Every plot prefix maps to a known treatment.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38727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5204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Codes decode into treatment, station, and replicate.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288536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27024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Each measurement has a documented unit and range.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038344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50200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Unknown codes are surfaced, not silently dropped.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3 ·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30 / 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F7C948"/>
                </a:solidFill>
                <a:latin typeface="Avenir Next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118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F1E9"/>
                </a:solidFill>
                <a:latin typeface="Avenir Next"/>
              </a:rPr>
              <a:t>MINUTE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43434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FB3A6"/>
                </a:solidFill>
                <a:latin typeface="Avenir Next"/>
              </a:rPr>
              <a:t>When we're back: clean the values, validate the ranges, and break the pipeline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4D17A"/>
                </a:solidFill>
                <a:latin typeface="Avenir Next"/>
              </a:rPr>
              <a:t>CATCH-UP CHECK     </a:t>
            </a:r>
            <a:r>
              <a:rPr sz="1300" b="0" i="0">
                <a:solidFill>
                  <a:srgbClr val="9FB3A6"/>
                </a:solidFill>
                <a:latin typeface="Avenir Next"/>
              </a:rPr>
              <a:t>files loaded   ·   reshaped to tidy   ·   contract decoded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HALFWAY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31 / 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54D17A"/>
                </a:solidFill>
                <a:latin typeface="Avenir Next"/>
              </a:rPr>
              <a:t>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3401568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MODULE 4  ·  25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22191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3F1E9"/>
                </a:solidFill>
                <a:latin typeface="Avenir Next"/>
              </a:rPr>
              <a:t>Clean and Standardize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828032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FB3A6"/>
                </a:solidFill>
                <a:latin typeface="Avenir Next"/>
              </a:rPr>
              <a:t>Turn messy cells into trustworthy timestamps and numbers — without erasing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6692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You leave with   </a:t>
            </a:r>
            <a:r>
              <a:rPr sz="1400" b="1" i="0">
                <a:solidFill>
                  <a:srgbClr val="F3F1E9"/>
                </a:solidFill>
                <a:latin typeface="Avenir Next"/>
              </a:rPr>
              <a:t>real timestamps, numeric values, and standardized treatment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32 / 55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682496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TWO 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Make every transform safe to re-run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Two properties keep a re-run from quietly changing your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57800" cy="228600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88336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1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1E9"/>
                </a:solidFill>
                <a:latin typeface="Avenir Next"/>
              </a:rPr>
              <a:t>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45536"/>
            <a:ext cx="469087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Same input + same code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→ always the same output.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No hidden manual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77440"/>
            <a:ext cx="5257800" cy="228600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59" y="2688336"/>
            <a:ext cx="146304" cy="146304"/>
          </a:xfrm>
          <a:prstGeom prst="ellipse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7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1E9"/>
                </a:solidFill>
                <a:latin typeface="Avenir Next"/>
              </a:rPr>
              <a:t>Idempotent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3145536"/>
            <a:ext cx="469087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Apply it again and again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→ the state stops changing.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Safe retries, no drift.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10881360" cy="868680"/>
          </a:xfrm>
          <a:prstGeom prst="roundRect">
            <a:avLst>
              <a:gd name="adj" fmla="val 7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3327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E0D5"/>
                </a:solidFill>
                <a:latin typeface="Menlo"/>
              </a:rPr>
              <a:t>to_datetime(to_datetime(x))  </a:t>
            </a:r>
            <a:r>
              <a:rPr sz="1350" b="0" i="0">
                <a:solidFill>
                  <a:srgbClr val="9FB3A6"/>
                </a:solidFill>
                <a:latin typeface="Avenir Next"/>
              </a:rPr>
              <a:t>→ the same timestamp, every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4 · 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33 / 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3291839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src/transform.py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Build real timestamps from messy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Combine the sheet's date with each row's time; junk simply becomes NaT.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672084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440679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src/transform.py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617220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cleaned[</a:t>
            </a:r>
            <a:r>
              <a:rPr sz="1250" i="0">
                <a:solidFill>
                  <a:srgbClr val="7FD89A"/>
                </a:solidFill>
                <a:latin typeface="Menlo"/>
              </a:rPr>
              <a:t>"date"</a:t>
            </a:r>
            <a:r>
              <a:rPr sz="1250" i="0">
                <a:solidFill>
                  <a:srgbClr val="D7E0D5"/>
                </a:solidFill>
                <a:latin typeface="Menlo"/>
              </a:rPr>
              <a:t>] = pd.to_datetime(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cleaned[</a:t>
            </a:r>
            <a:r>
              <a:rPr sz="1250" i="0">
                <a:solidFill>
                  <a:srgbClr val="7FD89A"/>
                </a:solidFill>
                <a:latin typeface="Menlo"/>
              </a:rPr>
              <a:t>"date"</a:t>
            </a:r>
            <a:r>
              <a:rPr sz="1250" i="0">
                <a:solidFill>
                  <a:srgbClr val="D7E0D5"/>
                </a:solidFill>
                <a:latin typeface="Menlo"/>
              </a:rPr>
              <a:t>], errors=</a:t>
            </a:r>
            <a:r>
              <a:rPr sz="1250" i="0">
                <a:solidFill>
                  <a:srgbClr val="7FD89A"/>
                </a:solidFill>
                <a:latin typeface="Menlo"/>
              </a:rPr>
              <a:t>"coerce"</a:t>
            </a:r>
            <a:r>
              <a:rPr sz="125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stamp = 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cleaned[</a:t>
            </a:r>
            <a:r>
              <a:rPr sz="1250" i="0">
                <a:solidFill>
                  <a:srgbClr val="7FD89A"/>
                </a:solidFill>
                <a:latin typeface="Menlo"/>
              </a:rPr>
              <a:t>"date"</a:t>
            </a:r>
            <a:r>
              <a:rPr sz="1250" i="0">
                <a:solidFill>
                  <a:srgbClr val="D7E0D5"/>
                </a:solidFill>
                <a:latin typeface="Menlo"/>
              </a:rPr>
              <a:t>].dt.strftime(</a:t>
            </a:r>
            <a:r>
              <a:rPr sz="1250" i="0">
                <a:solidFill>
                  <a:srgbClr val="7FD89A"/>
                </a:solidFill>
                <a:latin typeface="Menlo"/>
              </a:rPr>
              <a:t>"%Y-%m-%d"</a:t>
            </a:r>
            <a:r>
              <a:rPr sz="125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+ </a:t>
            </a:r>
            <a:r>
              <a:rPr sz="1250" i="0">
                <a:solidFill>
                  <a:srgbClr val="7FD89A"/>
                </a:solidFill>
                <a:latin typeface="Menlo"/>
              </a:rPr>
              <a:t>" "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+ cleaned[</a:t>
            </a:r>
            <a:r>
              <a:rPr sz="1250" i="0">
                <a:solidFill>
                  <a:srgbClr val="7FD89A"/>
                </a:solidFill>
                <a:latin typeface="Menlo"/>
              </a:rPr>
              <a:t>"raw_time"</a:t>
            </a:r>
            <a:r>
              <a:rPr sz="1250" i="0">
                <a:solidFill>
                  <a:srgbClr val="D7E0D5"/>
                </a:solidFill>
                <a:latin typeface="Menlo"/>
              </a:rPr>
              <a:t>].astype(</a:t>
            </a:r>
            <a:r>
              <a:rPr sz="1250" i="0">
                <a:solidFill>
                  <a:srgbClr val="F7C948"/>
                </a:solidFill>
                <a:latin typeface="Menlo"/>
              </a:rPr>
              <a:t>str</a:t>
            </a:r>
            <a:r>
              <a:rPr sz="125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cleaned[</a:t>
            </a:r>
            <a:r>
              <a:rPr sz="1250" i="0">
                <a:solidFill>
                  <a:srgbClr val="7FD89A"/>
                </a:solidFill>
                <a:latin typeface="Menlo"/>
              </a:rPr>
              <a:t>"timestamp"</a:t>
            </a:r>
            <a:r>
              <a:rPr sz="1250" i="0">
                <a:solidFill>
                  <a:srgbClr val="D7E0D5"/>
                </a:solidFill>
                <a:latin typeface="Menlo"/>
              </a:rPr>
              <a:t>] = pd.to_datetime(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   stamp, errors=</a:t>
            </a:r>
            <a:r>
              <a:rPr sz="1250" i="0">
                <a:solidFill>
                  <a:srgbClr val="7FD89A"/>
                </a:solidFill>
                <a:latin typeface="Menlo"/>
              </a:rPr>
              <a:t>"coerce"</a:t>
            </a:r>
            <a:r>
              <a:rPr sz="125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i="1">
                <a:solidFill>
                  <a:srgbClr val="6E8377"/>
                </a:solidFill>
                <a:latin typeface="Menlo"/>
              </a:rPr>
              <a:t># '11:34 - Need network restart' -&gt; NaT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042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COERCE → EXPOSE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761488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Don't crash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063240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errors='coerce' keeps the pipeline running on junk.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40480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Don't hide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142232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Unparseable times become a visible NaT.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919472"/>
            <a:ext cx="367588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Date from the 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221224"/>
            <a:ext cx="367588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The day comes from the sheet name, the time from the 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4 · 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34 / 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3291839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src/transform.py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Coerce values; quarantine the impossible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Make every reading numeric, then blank out anything physically impossible.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690372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623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src/transform.py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635508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cleaned[</a:t>
            </a:r>
            <a:r>
              <a:rPr sz="1200" i="0">
                <a:solidFill>
                  <a:srgbClr val="7FD89A"/>
                </a:solidFill>
                <a:latin typeface="Menlo"/>
              </a:rPr>
              <a:t>"value"</a:t>
            </a:r>
            <a:r>
              <a:rPr sz="1200" i="0">
                <a:solidFill>
                  <a:srgbClr val="D7E0D5"/>
                </a:solidFill>
                <a:latin typeface="Menlo"/>
              </a:rPr>
              <a:t>] = pd.to_numeric(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cleaned[</a:t>
            </a:r>
            <a:r>
              <a:rPr sz="1200" i="0">
                <a:solidFill>
                  <a:srgbClr val="7FD89A"/>
                </a:solidFill>
                <a:latin typeface="Menlo"/>
              </a:rPr>
              <a:t>"value"</a:t>
            </a:r>
            <a:r>
              <a:rPr sz="1200" i="0">
                <a:solidFill>
                  <a:srgbClr val="D7E0D5"/>
                </a:solidFill>
                <a:latin typeface="Menlo"/>
              </a:rPr>
              <a:t>], errors=</a:t>
            </a:r>
            <a:r>
              <a:rPr sz="1200" i="0">
                <a:solidFill>
                  <a:srgbClr val="7FD89A"/>
                </a:solidFill>
                <a:latin typeface="Menlo"/>
              </a:rPr>
              <a:t>"coerce"</a:t>
            </a:r>
            <a:r>
              <a:rPr sz="120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7C948"/>
                </a:solidFill>
                <a:latin typeface="Menlo"/>
              </a:rPr>
              <a:t>def</a:t>
            </a:r>
            <a:r>
              <a:rPr sz="1200" i="0">
                <a:solidFill>
                  <a:srgbClr val="D7E0D5"/>
                </a:solidFill>
                <a:latin typeface="Menlo"/>
              </a:rPr>
              <a:t> quarantine_out_of_range(cleaned):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out = cleaned.copy()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F7C948"/>
                </a:solidFill>
                <a:latin typeface="Menlo"/>
              </a:rPr>
              <a:t>for</a:t>
            </a:r>
            <a:r>
              <a:rPr sz="1200" i="0">
                <a:solidFill>
                  <a:srgbClr val="D7E0D5"/>
                </a:solidFill>
                <a:latin typeface="Menlo"/>
              </a:rPr>
              <a:t> name, (low, high) </a:t>
            </a:r>
            <a:r>
              <a:rPr sz="1200" i="0">
                <a:solidFill>
                  <a:srgbClr val="F7C948"/>
                </a:solidFill>
                <a:latin typeface="Menlo"/>
              </a:rPr>
              <a:t>in</a:t>
            </a:r>
            <a:r>
              <a:rPr sz="1200" i="0">
                <a:solidFill>
                  <a:srgbClr val="D7E0D5"/>
                </a:solidFill>
                <a:latin typeface="Menlo"/>
              </a:rPr>
              <a:t> RANGES.items():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mask = out[</a:t>
            </a:r>
            <a:r>
              <a:rPr sz="1200" i="0">
                <a:solidFill>
                  <a:srgbClr val="7FD89A"/>
                </a:solidFill>
                <a:latin typeface="Menlo"/>
              </a:rPr>
              <a:t>"measurement"</a:t>
            </a:r>
            <a:r>
              <a:rPr sz="1200" i="0">
                <a:solidFill>
                  <a:srgbClr val="D7E0D5"/>
                </a:solidFill>
                <a:latin typeface="Menlo"/>
              </a:rPr>
              <a:t>] == name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bad = mask &amp; 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(out[</a:t>
            </a:r>
            <a:r>
              <a:rPr sz="1200" i="0">
                <a:solidFill>
                  <a:srgbClr val="7FD89A"/>
                </a:solidFill>
                <a:latin typeface="Menlo"/>
              </a:rPr>
              <a:t>"value"</a:t>
            </a:r>
            <a:r>
              <a:rPr sz="1200" i="0">
                <a:solidFill>
                  <a:srgbClr val="D7E0D5"/>
                </a:solidFill>
                <a:latin typeface="Menlo"/>
              </a:rPr>
              <a:t>] &lt; low)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| (out[</a:t>
            </a:r>
            <a:r>
              <a:rPr sz="1200" i="0">
                <a:solidFill>
                  <a:srgbClr val="7FD89A"/>
                </a:solidFill>
                <a:latin typeface="Menlo"/>
              </a:rPr>
              <a:t>"value"</a:t>
            </a:r>
            <a:r>
              <a:rPr sz="1200" i="0">
                <a:solidFill>
                  <a:srgbClr val="D7E0D5"/>
                </a:solidFill>
                <a:latin typeface="Menlo"/>
              </a:rPr>
              <a:t>] &gt; high))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out.loc[bad, </a:t>
            </a:r>
            <a:r>
              <a:rPr sz="1200" i="0">
                <a:solidFill>
                  <a:srgbClr val="7FD89A"/>
                </a:solidFill>
                <a:latin typeface="Menlo"/>
              </a:rPr>
              <a:t>"value"</a:t>
            </a:r>
            <a:r>
              <a:rPr sz="1200" i="0">
                <a:solidFill>
                  <a:srgbClr val="D7E0D5"/>
                </a:solidFill>
                <a:latin typeface="Menlo"/>
              </a:rPr>
              <a:t>] = </a:t>
            </a:r>
            <a:r>
              <a:rPr sz="1200" i="0">
                <a:solidFill>
                  <a:srgbClr val="F7C948"/>
                </a:solidFill>
                <a:latin typeface="Menlo"/>
              </a:rPr>
              <a:t>float</a:t>
            </a:r>
            <a:r>
              <a:rPr sz="1200" i="0">
                <a:solidFill>
                  <a:srgbClr val="D7E0D5"/>
                </a:solidFill>
                <a:latin typeface="Menlo"/>
              </a:rPr>
              <a:t>(</a:t>
            </a:r>
            <a:r>
              <a:rPr sz="1200" i="0">
                <a:solidFill>
                  <a:srgbClr val="7FD89A"/>
                </a:solidFill>
                <a:latin typeface="Menlo"/>
              </a:rPr>
              <a:t>"nan"</a:t>
            </a:r>
            <a:r>
              <a:rPr sz="120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F7C948"/>
                </a:solidFill>
                <a:latin typeface="Menlo"/>
              </a:rPr>
              <a:t>return</a:t>
            </a:r>
            <a:r>
              <a:rPr sz="1200" i="0">
                <a:solidFill>
                  <a:srgbClr val="D7E0D5"/>
                </a:solidFill>
                <a:latin typeface="Menlo"/>
              </a:rPr>
              <a:t>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04288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KEEP THE 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61488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Numeric or NaN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63240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'not recorded' coerces to NaN, never a fake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840480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Quarantine ≠ 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42232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A 350° reading is blanked; its row survives.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919472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Evidence preserved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221224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We can still see when and where it happened.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4 · 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35 / 55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3191256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src/contract.py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Standardize labels through the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One pass attaches the treatment, station, and unit to every reading.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690372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623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src/contract.py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635508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7C948"/>
                </a:solidFill>
                <a:latin typeface="Menlo"/>
              </a:rPr>
              <a:t>def</a:t>
            </a:r>
            <a:r>
              <a:rPr sz="1200" i="0">
                <a:solidFill>
                  <a:srgbClr val="D7E0D5"/>
                </a:solidFill>
                <a:latin typeface="Menlo"/>
              </a:rPr>
              <a:t> apply_contract(long_table):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out = long_table.copy()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parts = out[</a:t>
            </a:r>
            <a:r>
              <a:rPr sz="1200" i="0">
                <a:solidFill>
                  <a:srgbClr val="7FD89A"/>
                </a:solidFill>
                <a:latin typeface="Menlo"/>
              </a:rPr>
              <a:t>"plot_code"</a:t>
            </a:r>
            <a:r>
              <a:rPr sz="1200" i="0">
                <a:solidFill>
                  <a:srgbClr val="D7E0D5"/>
                </a:solidFill>
                <a:latin typeface="Menlo"/>
              </a:rPr>
              <a:t>].map(parse_plot_code)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out[</a:t>
            </a:r>
            <a:r>
              <a:rPr sz="1200" i="0">
                <a:solidFill>
                  <a:srgbClr val="7FD89A"/>
                </a:solidFill>
                <a:latin typeface="Menlo"/>
              </a:rPr>
              <a:t>"treatment"</a:t>
            </a:r>
            <a:r>
              <a:rPr sz="1200" i="0">
                <a:solidFill>
                  <a:srgbClr val="D7E0D5"/>
                </a:solidFill>
                <a:latin typeface="Menlo"/>
              </a:rPr>
              <a:t>] = [p[</a:t>
            </a:r>
            <a:r>
              <a:rPr sz="1200" i="0">
                <a:solidFill>
                  <a:srgbClr val="7FD89A"/>
                </a:solidFill>
                <a:latin typeface="Menlo"/>
              </a:rPr>
              <a:t>"treatment"</a:t>
            </a:r>
            <a:r>
              <a:rPr sz="1200" i="0">
                <a:solidFill>
                  <a:srgbClr val="D7E0D5"/>
                </a:solidFill>
                <a:latin typeface="Menlo"/>
              </a:rPr>
              <a:t>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            </a:t>
            </a:r>
            <a:r>
              <a:rPr sz="1200" i="0">
                <a:solidFill>
                  <a:srgbClr val="F7C948"/>
                </a:solidFill>
                <a:latin typeface="Menlo"/>
              </a:rPr>
              <a:t>for</a:t>
            </a:r>
            <a:r>
              <a:rPr sz="1200" i="0">
                <a:solidFill>
                  <a:srgbClr val="D7E0D5"/>
                </a:solidFill>
                <a:latin typeface="Menlo"/>
              </a:rPr>
              <a:t> p </a:t>
            </a:r>
            <a:r>
              <a:rPr sz="1200" i="0">
                <a:solidFill>
                  <a:srgbClr val="F7C948"/>
                </a:solidFill>
                <a:latin typeface="Menlo"/>
              </a:rPr>
              <a:t>in</a:t>
            </a:r>
            <a:r>
              <a:rPr sz="1200" i="0">
                <a:solidFill>
                  <a:srgbClr val="D7E0D5"/>
                </a:solidFill>
                <a:latin typeface="Menlo"/>
              </a:rPr>
              <a:t> parts]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out[</a:t>
            </a:r>
            <a:r>
              <a:rPr sz="1200" i="0">
                <a:solidFill>
                  <a:srgbClr val="7FD89A"/>
                </a:solidFill>
                <a:latin typeface="Menlo"/>
              </a:rPr>
              <a:t>"station"</a:t>
            </a:r>
            <a:r>
              <a:rPr sz="1200" i="0">
                <a:solidFill>
                  <a:srgbClr val="D7E0D5"/>
                </a:solidFill>
                <a:latin typeface="Menlo"/>
              </a:rPr>
              <a:t>] = [p[</a:t>
            </a:r>
            <a:r>
              <a:rPr sz="1200" i="0">
                <a:solidFill>
                  <a:srgbClr val="7FD89A"/>
                </a:solidFill>
                <a:latin typeface="Menlo"/>
              </a:rPr>
              <a:t>"station"</a:t>
            </a:r>
            <a:r>
              <a:rPr sz="1200" i="0">
                <a:solidFill>
                  <a:srgbClr val="D7E0D5"/>
                </a:solidFill>
                <a:latin typeface="Menlo"/>
              </a:rPr>
              <a:t>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          </a:t>
            </a:r>
            <a:r>
              <a:rPr sz="1200" i="0">
                <a:solidFill>
                  <a:srgbClr val="F7C948"/>
                </a:solidFill>
                <a:latin typeface="Menlo"/>
              </a:rPr>
              <a:t>for</a:t>
            </a:r>
            <a:r>
              <a:rPr sz="1200" i="0">
                <a:solidFill>
                  <a:srgbClr val="D7E0D5"/>
                </a:solidFill>
                <a:latin typeface="Menlo"/>
              </a:rPr>
              <a:t> p </a:t>
            </a:r>
            <a:r>
              <a:rPr sz="1200" i="0">
                <a:solidFill>
                  <a:srgbClr val="F7C948"/>
                </a:solidFill>
                <a:latin typeface="Menlo"/>
              </a:rPr>
              <a:t>in</a:t>
            </a:r>
            <a:r>
              <a:rPr sz="1200" i="0">
                <a:solidFill>
                  <a:srgbClr val="D7E0D5"/>
                </a:solidFill>
                <a:latin typeface="Menlo"/>
              </a:rPr>
              <a:t> parts]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out[</a:t>
            </a:r>
            <a:r>
              <a:rPr sz="1200" i="0">
                <a:solidFill>
                  <a:srgbClr val="7FD89A"/>
                </a:solidFill>
                <a:latin typeface="Menlo"/>
              </a:rPr>
              <a:t>"measurement"</a:t>
            </a:r>
            <a:r>
              <a:rPr sz="1200" i="0">
                <a:solidFill>
                  <a:srgbClr val="D7E0D5"/>
                </a:solidFill>
                <a:latin typeface="Menlo"/>
              </a:rPr>
              <a:t>] = out[</a:t>
            </a:r>
            <a:r>
              <a:rPr sz="1200" i="0">
                <a:solidFill>
                  <a:srgbClr val="7FD89A"/>
                </a:solidFill>
                <a:latin typeface="Menlo"/>
              </a:rPr>
              <a:t>"measurement"</a:t>
            </a:r>
            <a:r>
              <a:rPr sz="1200" i="0">
                <a:solidFill>
                  <a:srgbClr val="D7E0D5"/>
                </a:solidFill>
                <a:latin typeface="Menlo"/>
              </a:rPr>
              <a:t>].map(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MEASUREMENT_NAMES)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out[</a:t>
            </a:r>
            <a:r>
              <a:rPr sz="1200" i="0">
                <a:solidFill>
                  <a:srgbClr val="7FD89A"/>
                </a:solidFill>
                <a:latin typeface="Menlo"/>
              </a:rPr>
              <a:t>"unit"</a:t>
            </a:r>
            <a:r>
              <a:rPr sz="1200" i="0">
                <a:solidFill>
                  <a:srgbClr val="D7E0D5"/>
                </a:solidFill>
                <a:latin typeface="Menlo"/>
              </a:rPr>
              <a:t>] = out[</a:t>
            </a:r>
            <a:r>
              <a:rPr sz="1200" i="0">
                <a:solidFill>
                  <a:srgbClr val="7FD89A"/>
                </a:solidFill>
                <a:latin typeface="Menlo"/>
              </a:rPr>
              <a:t>"measurement"</a:t>
            </a:r>
            <a:r>
              <a:rPr sz="1200" i="0">
                <a:solidFill>
                  <a:srgbClr val="D7E0D5"/>
                </a:solidFill>
                <a:latin typeface="Menlo"/>
              </a:rPr>
              <a:t>].map(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MEASUREMENT_UNITS)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F7C948"/>
                </a:solidFill>
                <a:latin typeface="Menlo"/>
              </a:rPr>
              <a:t>return</a:t>
            </a:r>
            <a:r>
              <a:rPr sz="1200" i="0">
                <a:solidFill>
                  <a:srgbClr val="D7E0D5"/>
                </a:solidFill>
                <a:latin typeface="Menlo"/>
              </a:rPr>
              <a:t>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04288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ONE VOCABULARY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61488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Codes → treatments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63240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Downstream code says 'agrivoltaic', not 'AG'.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840480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Names →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42232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'Irr (W/m2)' becomes 'irradiance' + 'W/m2'.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919472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Copy, don't mutate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221224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.copy() keeps the reshaped table intact.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4 · 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36 / 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Clean the readings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Make times real, values numeric, and labels consistent.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024128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 w="19050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2070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7C948"/>
                </a:solidFill>
                <a:latin typeface="Avenir Nex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65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3A6"/>
                </a:solidFill>
                <a:latin typeface="Avenir Next"/>
              </a:rPr>
              <a:t>MINUTES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14016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Build a </a:t>
            </a:r>
            <a:r>
              <a:rPr sz="1400" b="0" i="0">
                <a:solidFill>
                  <a:srgbClr val="54D17A"/>
                </a:solidFill>
                <a:latin typeface="Menlo"/>
              </a:rPr>
              <a:t>timestamp</a:t>
            </a:r>
            <a:r>
              <a:rPr sz="1550" b="0" i="0">
                <a:solidFill>
                  <a:srgbClr val="F3F1E9"/>
                </a:solidFill>
                <a:latin typeface="Avenir Next"/>
              </a:rPr>
              <a:t> from date + raw_time.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63824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Coerce </a:t>
            </a:r>
            <a:r>
              <a:rPr sz="1400" b="0" i="0">
                <a:solidFill>
                  <a:srgbClr val="54D17A"/>
                </a:solidFill>
                <a:latin typeface="Menlo"/>
              </a:rPr>
              <a:t>value</a:t>
            </a:r>
            <a:r>
              <a:rPr sz="1550" b="0" i="0">
                <a:solidFill>
                  <a:srgbClr val="F3F1E9"/>
                </a:solidFill>
                <a:latin typeface="Avenir Next"/>
              </a:rPr>
              <a:t> to numeric with coerce.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13631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Apply the contract to label every row.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6344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Count how many timestamps became NaT.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B3A6"/>
                </a:solidFill>
                <a:latin typeface="Avenir Next"/>
              </a:rPr>
              <a:t>WORK IN   </a:t>
            </a:r>
            <a:r>
              <a:rPr sz="1350" b="0" i="0">
                <a:solidFill>
                  <a:srgbClr val="F7C948"/>
                </a:solidFill>
                <a:latin typeface="Menlo"/>
              </a:rPr>
              <a:t>src/transform.py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4 · 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37 / 55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3F1E9"/>
                </a:solidFill>
                <a:latin typeface="Avenir Next"/>
              </a:rPr>
              <a:t>Messy cells are now trustworthy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A6"/>
                </a:solidFill>
                <a:latin typeface="Avenir Next"/>
              </a:rPr>
              <a:t>Pause and check the result before we add another layer.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7706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Timestamps are real datetimes or visible NaT.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38727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5204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Values are numeric or visible NaN.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288536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27024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Every row carries its treatment, station, and unit.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038344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50200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The reshaped table was copied, not mutated.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4 · 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38 / 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54D17A"/>
                </a:solidFill>
                <a:latin typeface="Avenir Next"/>
              </a:rP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3401568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MODULE 5  ·  25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22191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3F1E9"/>
                </a:solidFill>
                <a:latin typeface="Avenir Next"/>
              </a:rPr>
              <a:t>Validate Before Trusting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828032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FB3A6"/>
                </a:solidFill>
                <a:latin typeface="Avenir Next"/>
              </a:rPr>
              <a:t>Turn the contract into executable checks that decide what may be published.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6692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You leave with   </a:t>
            </a:r>
            <a:r>
              <a:rPr sz="1400" b="1" i="0">
                <a:solidFill>
                  <a:srgbClr val="F3F1E9"/>
                </a:solidFill>
                <a:latin typeface="Avenir Next"/>
              </a:rPr>
              <a:t>a validation report that stops structural failures and flags data-quality issues.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39 / 55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682496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DIFFERENT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Cleaning changes; validation judges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A rule normalises a known variation. A check exposes an unknown violation.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57800" cy="292608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88336"/>
            <a:ext cx="146304" cy="146304"/>
          </a:xfrm>
          <a:prstGeom prst="ellipse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1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Clean  —  change 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45536"/>
            <a:ext cx="469087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'11:34 junk'  →  NaT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'not recorded'  →  NaN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'AG'  →  'agrivoltaic'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77440"/>
            <a:ext cx="5257800" cy="292608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59" y="2688336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7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Validate  —  judge acceptability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3145536"/>
            <a:ext cx="469087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plot prefix is known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irradiance sits in 0–1500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humidity sits in 0–100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If cleaning could fix it, clean. If trust depends on it, </a:t>
            </a:r>
            <a:r>
              <a:rPr sz="1400" b="1" i="0">
                <a:solidFill>
                  <a:srgbClr val="54D17A"/>
                </a:solidFill>
                <a:latin typeface="Avenir Next"/>
              </a:rPr>
              <a:t>validate.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5 ·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40 / 55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DESIGN THE FAILURE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Not every problem should stop the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Separate structural failures from the noise real sensors always produce.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57800" cy="292608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88336"/>
            <a:ext cx="146304" cy="146304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1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Structural  → 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45536"/>
            <a:ext cx="469087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Unknown plot code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Missing required column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The data isn't what we agreed.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Save the report and halt.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77440"/>
            <a:ext cx="5257800" cy="292608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59" y="2688336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7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Data quality  →  QUARANTINE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3145536"/>
            <a:ext cx="469087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A few out-of-range spikes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Some unparseable timestamps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Expected from real sensors.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Blank them, warn, carry 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A pipeline that halts on every glitch never ships; </a:t>
            </a:r>
            <a:r>
              <a:rPr sz="1400" b="0" i="0">
                <a:solidFill>
                  <a:srgbClr val="F3F1E9"/>
                </a:solidFill>
                <a:latin typeface="Avenir Next"/>
              </a:rPr>
              <a:t>one that ignores structure can't be trusted.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5 ·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41 / 55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3694176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src/validate_data.py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Write small, composable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Each check answers one question and returns evidence — it never stops the run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690372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623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src/validate_data.py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635508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7C948"/>
                </a:solidFill>
                <a:latin typeface="Menlo"/>
              </a:rPr>
              <a:t>def</a:t>
            </a:r>
            <a:r>
              <a:rPr sz="1200" i="0">
                <a:solidFill>
                  <a:srgbClr val="D7E0D5"/>
                </a:solidFill>
                <a:latin typeface="Menlo"/>
              </a:rPr>
              <a:t> validate_ranges(cleaned):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errors = []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F7C948"/>
                </a:solidFill>
                <a:latin typeface="Menlo"/>
              </a:rPr>
              <a:t>for</a:t>
            </a:r>
            <a:r>
              <a:rPr sz="1200" i="0">
                <a:solidFill>
                  <a:srgbClr val="D7E0D5"/>
                </a:solidFill>
                <a:latin typeface="Menlo"/>
              </a:rPr>
              <a:t> name, (low, high) </a:t>
            </a:r>
            <a:r>
              <a:rPr sz="1200" i="0">
                <a:solidFill>
                  <a:srgbClr val="F7C948"/>
                </a:solidFill>
                <a:latin typeface="Menlo"/>
              </a:rPr>
              <a:t>in</a:t>
            </a:r>
            <a:r>
              <a:rPr sz="1200" i="0">
                <a:solidFill>
                  <a:srgbClr val="D7E0D5"/>
                </a:solidFill>
                <a:latin typeface="Menlo"/>
              </a:rPr>
              <a:t> RANGES.items():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values = cleaned.loc[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cleaned[</a:t>
            </a:r>
            <a:r>
              <a:rPr sz="1200" i="0">
                <a:solidFill>
                  <a:srgbClr val="7FD89A"/>
                </a:solidFill>
                <a:latin typeface="Menlo"/>
              </a:rPr>
              <a:t>"measurement"</a:t>
            </a:r>
            <a:r>
              <a:rPr sz="1200" i="0">
                <a:solidFill>
                  <a:srgbClr val="D7E0D5"/>
                </a:solidFill>
                <a:latin typeface="Menlo"/>
              </a:rPr>
              <a:t>] == name,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</a:t>
            </a:r>
            <a:r>
              <a:rPr sz="1200" i="0">
                <a:solidFill>
                  <a:srgbClr val="7FD89A"/>
                </a:solidFill>
                <a:latin typeface="Menlo"/>
              </a:rPr>
              <a:t>"value"</a:t>
            </a:r>
            <a:r>
              <a:rPr sz="1200" i="0">
                <a:solidFill>
                  <a:srgbClr val="D7E0D5"/>
                </a:solidFill>
                <a:latin typeface="Menlo"/>
              </a:rPr>
              <a:t>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bad = values[(values &lt; low)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         | (values &gt; high)]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</a:t>
            </a:r>
            <a:r>
              <a:rPr sz="1200" i="0">
                <a:solidFill>
                  <a:srgbClr val="F7C948"/>
                </a:solidFill>
                <a:latin typeface="Menlo"/>
              </a:rPr>
              <a:t>if</a:t>
            </a:r>
            <a:r>
              <a:rPr sz="1200" i="0">
                <a:solidFill>
                  <a:srgbClr val="D7E0D5"/>
                </a:solidFill>
                <a:latin typeface="Menlo"/>
              </a:rPr>
              <a:t> </a:t>
            </a:r>
            <a:r>
              <a:rPr sz="1200" i="0">
                <a:solidFill>
                  <a:srgbClr val="F7C948"/>
                </a:solidFill>
                <a:latin typeface="Menlo"/>
              </a:rPr>
              <a:t>not</a:t>
            </a:r>
            <a:r>
              <a:rPr sz="1200" i="0">
                <a:solidFill>
                  <a:srgbClr val="D7E0D5"/>
                </a:solidFill>
                <a:latin typeface="Menlo"/>
              </a:rPr>
              <a:t> bad.empty: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errors.append(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    f</a:t>
            </a:r>
            <a:r>
              <a:rPr sz="1200" i="0">
                <a:solidFill>
                  <a:srgbClr val="7FD89A"/>
                </a:solidFill>
                <a:latin typeface="Menlo"/>
              </a:rPr>
              <a:t>"{name}: {len(bad)} values "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    f</a:t>
            </a:r>
            <a:r>
              <a:rPr sz="1200" i="0">
                <a:solidFill>
                  <a:srgbClr val="7FD89A"/>
                </a:solidFill>
                <a:latin typeface="Menlo"/>
              </a:rPr>
              <a:t>"outside [{low}, {high}]"</a:t>
            </a:r>
            <a:r>
              <a:rPr sz="120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</a:t>
            </a:r>
            <a:r>
              <a:rPr sz="1200" i="0">
                <a:solidFill>
                  <a:srgbClr val="F7C948"/>
                </a:solidFill>
                <a:latin typeface="Menlo"/>
              </a:rPr>
              <a:t>return</a:t>
            </a:r>
            <a:r>
              <a:rPr sz="1200" i="0">
                <a:solidFill>
                  <a:srgbClr val="D7E0D5"/>
                </a:solidFill>
                <a:latin typeface="Menlo"/>
              </a:rPr>
              <a:t>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04288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COMPOSABLE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61488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No printing, no exit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63240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It returns messages; the pipeline decides.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840480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Returns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42232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Counts and bounds, ready for one combined report.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919472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Many tiny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221224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Ranges, known plots, timestamps — all roll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5 ·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42 / 55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185416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BREAK IT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A trustworthy pipeline fails loudly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This is the real report from our run — every issue named, with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6309360" cy="3429000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523744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523744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523744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432304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outputs/reports/validation_report.csv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852928"/>
            <a:ext cx="5760720" cy="2697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status,message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warning,</a:t>
            </a:r>
            <a:r>
              <a:rPr sz="1200" i="0">
                <a:solidFill>
                  <a:srgbClr val="7FD89A"/>
                </a:solidFill>
                <a:latin typeface="Menlo"/>
              </a:rPr>
              <a:t>"</a:t>
            </a:r>
            <a:r>
              <a:rPr sz="1200" i="0">
                <a:solidFill>
                  <a:srgbClr val="D7E0D5"/>
                </a:solidFill>
                <a:latin typeface="Menlo"/>
              </a:rPr>
              <a:t>temperature: </a:t>
            </a:r>
            <a:r>
              <a:rPr sz="1200" i="0">
                <a:solidFill>
                  <a:srgbClr val="F0A868"/>
                </a:solidFill>
                <a:latin typeface="Menlo"/>
              </a:rPr>
              <a:t>17766</a:t>
            </a:r>
            <a:r>
              <a:rPr sz="1200" i="0">
                <a:solidFill>
                  <a:srgbClr val="D7E0D5"/>
                </a:solidFill>
                <a:latin typeface="Menlo"/>
              </a:rPr>
              <a:t> values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outside [</a:t>
            </a:r>
            <a:r>
              <a:rPr sz="1200" i="0">
                <a:solidFill>
                  <a:srgbClr val="F0A868"/>
                </a:solidFill>
                <a:latin typeface="Menlo"/>
              </a:rPr>
              <a:t>5</a:t>
            </a:r>
            <a:r>
              <a:rPr sz="1200" i="0">
                <a:solidFill>
                  <a:srgbClr val="D7E0D5"/>
                </a:solidFill>
                <a:latin typeface="Menlo"/>
              </a:rPr>
              <a:t>, </a:t>
            </a:r>
            <a:r>
              <a:rPr sz="1200" i="0">
                <a:solidFill>
                  <a:srgbClr val="F0A868"/>
                </a:solidFill>
                <a:latin typeface="Menlo"/>
              </a:rPr>
              <a:t>60</a:t>
            </a:r>
            <a:r>
              <a:rPr sz="1200" i="0">
                <a:solidFill>
                  <a:srgbClr val="D7E0D5"/>
                </a:solidFill>
                <a:latin typeface="Menlo"/>
              </a:rPr>
              <a:t>]</a:t>
            </a:r>
            <a:r>
              <a:rPr sz="1200" i="0">
                <a:solidFill>
                  <a:srgbClr val="7FD89A"/>
                </a:solidFill>
                <a:latin typeface="Menlo"/>
              </a:rPr>
              <a:t>"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warning,</a:t>
            </a:r>
            <a:r>
              <a:rPr sz="1200" i="0">
                <a:solidFill>
                  <a:srgbClr val="7FD89A"/>
                </a:solidFill>
                <a:latin typeface="Menlo"/>
              </a:rPr>
              <a:t>"</a:t>
            </a:r>
            <a:r>
              <a:rPr sz="1200" i="0">
                <a:solidFill>
                  <a:srgbClr val="D7E0D5"/>
                </a:solidFill>
                <a:latin typeface="Menlo"/>
              </a:rPr>
              <a:t>humidity: </a:t>
            </a:r>
            <a:r>
              <a:rPr sz="1200" i="0">
                <a:solidFill>
                  <a:srgbClr val="F0A868"/>
                </a:solidFill>
                <a:latin typeface="Menlo"/>
              </a:rPr>
              <a:t>445</a:t>
            </a:r>
            <a:r>
              <a:rPr sz="1200" i="0">
                <a:solidFill>
                  <a:srgbClr val="D7E0D5"/>
                </a:solidFill>
                <a:latin typeface="Menlo"/>
              </a:rPr>
              <a:t> values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outside [</a:t>
            </a:r>
            <a:r>
              <a:rPr sz="1200" i="0">
                <a:solidFill>
                  <a:srgbClr val="F0A868"/>
                </a:solidFill>
                <a:latin typeface="Menlo"/>
              </a:rPr>
              <a:t>0</a:t>
            </a:r>
            <a:r>
              <a:rPr sz="1200" i="0">
                <a:solidFill>
                  <a:srgbClr val="D7E0D5"/>
                </a:solidFill>
                <a:latin typeface="Menlo"/>
              </a:rPr>
              <a:t>, </a:t>
            </a:r>
            <a:r>
              <a:rPr sz="1200" i="0">
                <a:solidFill>
                  <a:srgbClr val="F0A868"/>
                </a:solidFill>
                <a:latin typeface="Menlo"/>
              </a:rPr>
              <a:t>100</a:t>
            </a:r>
            <a:r>
              <a:rPr sz="1200" i="0">
                <a:solidFill>
                  <a:srgbClr val="D7E0D5"/>
                </a:solidFill>
                <a:latin typeface="Menlo"/>
              </a:rPr>
              <a:t>]</a:t>
            </a:r>
            <a:r>
              <a:rPr sz="1200" i="0">
                <a:solidFill>
                  <a:srgbClr val="7FD89A"/>
                </a:solidFill>
                <a:latin typeface="Menlo"/>
              </a:rPr>
              <a:t>"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warning,</a:t>
            </a:r>
            <a:r>
              <a:rPr sz="1200" i="0">
                <a:solidFill>
                  <a:srgbClr val="7FD89A"/>
                </a:solidFill>
                <a:latin typeface="Menlo"/>
              </a:rPr>
              <a:t>"</a:t>
            </a:r>
            <a:r>
              <a:rPr sz="1200" i="0">
                <a:solidFill>
                  <a:srgbClr val="F0A868"/>
                </a:solidFill>
                <a:latin typeface="Menlo"/>
              </a:rPr>
              <a:t>34778</a:t>
            </a:r>
            <a:r>
              <a:rPr sz="1200" i="0">
                <a:solidFill>
                  <a:srgbClr val="D7E0D5"/>
                </a:solidFill>
                <a:latin typeface="Menlo"/>
              </a:rPr>
              <a:t> rows have an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unparseable timestamp</a:t>
            </a:r>
            <a:r>
              <a:rPr sz="1200" i="0">
                <a:solidFill>
                  <a:srgbClr val="7FD89A"/>
                </a:solidFill>
                <a:latin typeface="Menlo"/>
              </a:rPr>
              <a:t>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2286000"/>
            <a:ext cx="4251960" cy="1627632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543800" y="2596896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523744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Warnings → quarantine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3054096"/>
            <a:ext cx="368503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Real sensors spike and drop.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Blank the bad, keep the good.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4087368"/>
            <a:ext cx="4251960" cy="1627632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543800" y="4398264"/>
            <a:ext cx="146304" cy="146304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4325112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Add an unknown plot →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4855464"/>
            <a:ext cx="368503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Inject a ZZ-XX code and the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9FB3A6"/>
                </a:solidFill>
                <a:latin typeface="Avenir Next"/>
              </a:rPr>
              <a:t>run halts before publishing.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5 · 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43 / 55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Break it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Prove that data you can't trust never reaches a published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024128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 w="19050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2070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7C948"/>
                </a:solidFill>
                <a:latin typeface="Avenir Nex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65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3A6"/>
                </a:solidFill>
                <a:latin typeface="Avenir Next"/>
              </a:rPr>
              <a:t>MINUTES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14016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Add an unknown plot code and run the check.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63824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Confirm the pipeline stops before publishing.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13631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Add a 350 °C reading; watch it get quarantined.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6344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Open the saved </a:t>
            </a:r>
            <a:r>
              <a:rPr sz="1250" b="0" i="0">
                <a:solidFill>
                  <a:srgbClr val="54D17A"/>
                </a:solidFill>
                <a:latin typeface="Menlo"/>
              </a:rPr>
              <a:t>validation_report.csv</a:t>
            </a:r>
            <a:r>
              <a:rPr sz="1550" b="0" i="0">
                <a:solidFill>
                  <a:srgbClr val="F3F1E9"/>
                </a:solidFill>
                <a:latin typeface="Avenir Next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B3A6"/>
                </a:solidFill>
                <a:latin typeface="Avenir Next"/>
              </a:rPr>
              <a:t>WORK IN   </a:t>
            </a:r>
            <a:r>
              <a:rPr sz="1350" b="0" i="0">
                <a:solidFill>
                  <a:srgbClr val="F7C948"/>
                </a:solidFill>
                <a:latin typeface="Menlo"/>
              </a:rPr>
              <a:t>src/validate_data.py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5 ·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44 / 55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3F1E9"/>
                </a:solidFill>
                <a:latin typeface="Avenir Next"/>
              </a:rPr>
              <a:t>Untrusted data cannot publish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A6"/>
                </a:solidFill>
                <a:latin typeface="Avenir Next"/>
              </a:rPr>
              <a:t>Pause and check the result before we add another layer.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7706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Unknown plot codes stop the run.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38727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5204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Out-of-range readings are quarantined, not published.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288536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27024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Unparseable timestamps are counted and reported.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038344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50200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Every run leaves a saved validation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5 ·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45 / 55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54D17A"/>
                </a:solidFill>
                <a:latin typeface="Avenir Next"/>
              </a:rP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3401568"/>
            <a:ext cx="2587752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MODULE 6  ·  25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22191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3F1E9"/>
                </a:solidFill>
                <a:latin typeface="Avenir Next"/>
              </a:rPr>
              <a:t>Transform Into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828032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9FB3A6"/>
                </a:solidFill>
                <a:latin typeface="Avenir Next"/>
              </a:rPr>
              <a:t>Design the summary backward from Ama's question, then answer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66928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You leave with   </a:t>
            </a:r>
            <a:r>
              <a:rPr sz="1400" b="1" i="0">
                <a:solidFill>
                  <a:srgbClr val="F3F1E9"/>
                </a:solidFill>
                <a:latin typeface="Avenir Next"/>
              </a:rPr>
              <a:t>daily summaries, a midday microclimate comparison, and the chart that answers the question.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46 / 55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Choose the grain that answers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1.1M raw readings can't be read — so we summarise to a meaningful grain.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57800" cy="26517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88336"/>
            <a:ext cx="146304" cy="146304"/>
          </a:xfrm>
          <a:prstGeom prst="ellipse">
            <a:avLst/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1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Raw reading grain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45536"/>
            <a:ext cx="469087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One sensor, one plot,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one 5-minute moment.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Far too fine to compare.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77440"/>
            <a:ext cx="5257800" cy="265176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59" y="2688336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7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Comparison grain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3145536"/>
            <a:ext cx="469087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One treatment × measurement,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averaged over the midday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window (11:00–14:00).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We compare at midday — </a:t>
            </a:r>
            <a:r>
              <a:rPr sz="1400" b="0" i="0">
                <a:solidFill>
                  <a:srgbClr val="F3F1E9"/>
                </a:solidFill>
                <a:latin typeface="Avenir Next"/>
              </a:rPr>
              <a:t>when sun, heat, and the panels' effect are all at their peak.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6 ·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47 / 55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3291839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src/transform.py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Aggregate at the grain you declared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Group by the dimensions; compute measures with named aggregations.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690372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623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src/transform.py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635508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F7C948"/>
                </a:solidFill>
                <a:latin typeface="Menlo"/>
              </a:rPr>
              <a:t>return</a:t>
            </a:r>
            <a:r>
              <a:rPr sz="1200" i="0">
                <a:solidFill>
                  <a:srgbClr val="D7E0D5"/>
                </a:solidFill>
                <a:latin typeface="Menlo"/>
              </a:rPr>
              <a:t> 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cleaned.dropna(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subset=[</a:t>
            </a:r>
            <a:r>
              <a:rPr sz="1200" i="0">
                <a:solidFill>
                  <a:srgbClr val="7FD89A"/>
                </a:solidFill>
                <a:latin typeface="Menlo"/>
              </a:rPr>
              <a:t>"timestamp"</a:t>
            </a:r>
            <a:r>
              <a:rPr sz="1200" i="0">
                <a:solidFill>
                  <a:srgbClr val="D7E0D5"/>
                </a:solidFill>
                <a:latin typeface="Menlo"/>
              </a:rPr>
              <a:t>, </a:t>
            </a:r>
            <a:r>
              <a:rPr sz="1200" i="0">
                <a:solidFill>
                  <a:srgbClr val="7FD89A"/>
                </a:solidFill>
                <a:latin typeface="Menlo"/>
              </a:rPr>
              <a:t>"value"</a:t>
            </a:r>
            <a:r>
              <a:rPr sz="1200" i="0">
                <a:solidFill>
                  <a:srgbClr val="D7E0D5"/>
                </a:solidFill>
                <a:latin typeface="Menlo"/>
              </a:rPr>
              <a:t>])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.groupby([</a:t>
            </a:r>
            <a:r>
              <a:rPr sz="1200" i="0">
                <a:solidFill>
                  <a:srgbClr val="7FD89A"/>
                </a:solidFill>
                <a:latin typeface="Menlo"/>
              </a:rPr>
              <a:t>"date"</a:t>
            </a:r>
            <a:r>
              <a:rPr sz="1200" i="0">
                <a:solidFill>
                  <a:srgbClr val="D7E0D5"/>
                </a:solidFill>
                <a:latin typeface="Menlo"/>
              </a:rPr>
              <a:t>, </a:t>
            </a:r>
            <a:r>
              <a:rPr sz="1200" i="0">
                <a:solidFill>
                  <a:srgbClr val="7FD89A"/>
                </a:solidFill>
                <a:latin typeface="Menlo"/>
              </a:rPr>
              <a:t>"treatment"</a:t>
            </a:r>
            <a:r>
              <a:rPr sz="1200" i="0">
                <a:solidFill>
                  <a:srgbClr val="D7E0D5"/>
                </a:solidFill>
                <a:latin typeface="Menlo"/>
              </a:rPr>
              <a:t>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  </a:t>
            </a:r>
            <a:r>
              <a:rPr sz="1200" i="0">
                <a:solidFill>
                  <a:srgbClr val="7FD89A"/>
                </a:solidFill>
                <a:latin typeface="Menlo"/>
              </a:rPr>
              <a:t>"station"</a:t>
            </a:r>
            <a:r>
              <a:rPr sz="1200" i="0">
                <a:solidFill>
                  <a:srgbClr val="D7E0D5"/>
                </a:solidFill>
                <a:latin typeface="Menlo"/>
              </a:rPr>
              <a:t>, </a:t>
            </a:r>
            <a:r>
              <a:rPr sz="1200" i="0">
                <a:solidFill>
                  <a:srgbClr val="7FD89A"/>
                </a:solidFill>
                <a:latin typeface="Menlo"/>
              </a:rPr>
              <a:t>"measurement"</a:t>
            </a:r>
            <a:r>
              <a:rPr sz="1200" i="0">
                <a:solidFill>
                  <a:srgbClr val="D7E0D5"/>
                </a:solidFill>
                <a:latin typeface="Menlo"/>
              </a:rPr>
              <a:t>],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     dropna=</a:t>
            </a:r>
            <a:r>
              <a:rPr sz="1200" i="0">
                <a:solidFill>
                  <a:srgbClr val="F7C948"/>
                </a:solidFill>
                <a:latin typeface="Menlo"/>
              </a:rPr>
              <a:t>False</a:t>
            </a:r>
            <a:r>
              <a:rPr sz="1200" i="0">
                <a:solidFill>
                  <a:srgbClr val="D7E0D5"/>
                </a:solidFill>
                <a:latin typeface="Menlo"/>
              </a:rPr>
              <a:t>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.agg(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observations=(</a:t>
            </a:r>
            <a:r>
              <a:rPr sz="1200" i="0">
                <a:solidFill>
                  <a:srgbClr val="7FD89A"/>
                </a:solidFill>
                <a:latin typeface="Menlo"/>
              </a:rPr>
              <a:t>"value"</a:t>
            </a:r>
            <a:r>
              <a:rPr sz="1200" i="0">
                <a:solidFill>
                  <a:srgbClr val="D7E0D5"/>
                </a:solidFill>
                <a:latin typeface="Menlo"/>
              </a:rPr>
              <a:t>, </a:t>
            </a:r>
            <a:r>
              <a:rPr sz="1200" i="0">
                <a:solidFill>
                  <a:srgbClr val="7FD89A"/>
                </a:solidFill>
                <a:latin typeface="Menlo"/>
              </a:rPr>
              <a:t>"count"</a:t>
            </a:r>
            <a:r>
              <a:rPr sz="1200" i="0">
                <a:solidFill>
                  <a:srgbClr val="D7E0D5"/>
                </a:solidFill>
                <a:latin typeface="Menlo"/>
              </a:rPr>
              <a:t>),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mean_value=(</a:t>
            </a:r>
            <a:r>
              <a:rPr sz="1200" i="0">
                <a:solidFill>
                  <a:srgbClr val="7FD89A"/>
                </a:solidFill>
                <a:latin typeface="Menlo"/>
              </a:rPr>
              <a:t>"value"</a:t>
            </a:r>
            <a:r>
              <a:rPr sz="1200" i="0">
                <a:solidFill>
                  <a:srgbClr val="D7E0D5"/>
                </a:solidFill>
                <a:latin typeface="Menlo"/>
              </a:rPr>
              <a:t>, </a:t>
            </a:r>
            <a:r>
              <a:rPr sz="1200" i="0">
                <a:solidFill>
                  <a:srgbClr val="7FD89A"/>
                </a:solidFill>
                <a:latin typeface="Menlo"/>
              </a:rPr>
              <a:t>"mean"</a:t>
            </a:r>
            <a:r>
              <a:rPr sz="1200" i="0">
                <a:solidFill>
                  <a:srgbClr val="D7E0D5"/>
                </a:solidFill>
                <a:latin typeface="Menlo"/>
              </a:rPr>
              <a:t>),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min_value=(</a:t>
            </a:r>
            <a:r>
              <a:rPr sz="1200" i="0">
                <a:solidFill>
                  <a:srgbClr val="7FD89A"/>
                </a:solidFill>
                <a:latin typeface="Menlo"/>
              </a:rPr>
              <a:t>"value"</a:t>
            </a:r>
            <a:r>
              <a:rPr sz="1200" i="0">
                <a:solidFill>
                  <a:srgbClr val="D7E0D5"/>
                </a:solidFill>
                <a:latin typeface="Menlo"/>
              </a:rPr>
              <a:t>, </a:t>
            </a:r>
            <a:r>
              <a:rPr sz="1200" i="0">
                <a:solidFill>
                  <a:srgbClr val="7FD89A"/>
                </a:solidFill>
                <a:latin typeface="Menlo"/>
              </a:rPr>
              <a:t>"min"</a:t>
            </a:r>
            <a:r>
              <a:rPr sz="1200" i="0">
                <a:solidFill>
                  <a:srgbClr val="D7E0D5"/>
                </a:solidFill>
                <a:latin typeface="Menlo"/>
              </a:rPr>
              <a:t>),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    max_value=(</a:t>
            </a:r>
            <a:r>
              <a:rPr sz="1200" i="0">
                <a:solidFill>
                  <a:srgbClr val="7FD89A"/>
                </a:solidFill>
                <a:latin typeface="Menlo"/>
              </a:rPr>
              <a:t>"value"</a:t>
            </a:r>
            <a:r>
              <a:rPr sz="1200" i="0">
                <a:solidFill>
                  <a:srgbClr val="D7E0D5"/>
                </a:solidFill>
                <a:latin typeface="Menlo"/>
              </a:rPr>
              <a:t>, </a:t>
            </a:r>
            <a:r>
              <a:rPr sz="1200" i="0">
                <a:solidFill>
                  <a:srgbClr val="7FD89A"/>
                </a:solidFill>
                <a:latin typeface="Menlo"/>
              </a:rPr>
              <a:t>"max"</a:t>
            </a:r>
            <a:r>
              <a:rPr sz="1200" i="0">
                <a:solidFill>
                  <a:srgbClr val="D7E0D5"/>
                </a:solidFill>
                <a:latin typeface="Menlo"/>
              </a:rPr>
              <a:t>),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    .reset_index()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i="0">
                <a:solidFill>
                  <a:srgbClr val="D7E0D5"/>
                </a:solidFill>
                <a:latin typeface="Menlo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04288"/>
            <a:ext cx="3474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READ THE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761488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063240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date + treatment + station + measurement.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840480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Measures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42232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Count and mean/min/max of the readings.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919472"/>
            <a:ext cx="349300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Drop the unusable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221224"/>
            <a:ext cx="349300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Rows with no timestamp or value don't 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6 ·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48 / 55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3291839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LIVE CODE  ·  src/transform.py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Compare against the right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Each measurement is judged against the open reference that actually exists.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7086600" cy="3749039"/>
          </a:xfrm>
          <a:prstGeom prst="roundRect">
            <a:avLst>
              <a:gd name="adj" fmla="val 5000"/>
            </a:avLst>
          </a:prstGeom>
          <a:solidFill>
            <a:srgbClr val="0A1410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450591"/>
            <a:ext cx="118872" cy="118872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33856" y="2450591"/>
            <a:ext cx="118872" cy="118872"/>
          </a:xfrm>
          <a:prstGeom prst="ellipse">
            <a:avLst/>
          </a:prstGeom>
          <a:solidFill>
            <a:srgbClr val="E6B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2450591"/>
            <a:ext cx="118872" cy="11887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359152"/>
            <a:ext cx="5806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3A6"/>
                </a:solidFill>
                <a:latin typeface="Menlo"/>
              </a:rPr>
              <a:t>src/transform.py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6537960" cy="3017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BASELINE_BY_MEASUREMENT = {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</a:t>
            </a:r>
            <a:r>
              <a:rPr sz="1150" i="0">
                <a:solidFill>
                  <a:srgbClr val="7FD89A"/>
                </a:solidFill>
                <a:latin typeface="Menlo"/>
              </a:rPr>
              <a:t>"temperature"</a:t>
            </a:r>
            <a:r>
              <a:rPr sz="1150" i="0">
                <a:solidFill>
                  <a:srgbClr val="D7E0D5"/>
                </a:solidFill>
                <a:latin typeface="Menlo"/>
              </a:rPr>
              <a:t>: </a:t>
            </a:r>
            <a:r>
              <a:rPr sz="1150" i="0">
                <a:solidFill>
                  <a:srgbClr val="7FD89A"/>
                </a:solidFill>
                <a:latin typeface="Menlo"/>
              </a:rPr>
              <a:t>"open_sun_control"</a:t>
            </a:r>
            <a:r>
              <a:rPr sz="1150" i="0">
                <a:solidFill>
                  <a:srgbClr val="D7E0D5"/>
                </a:solidFill>
                <a:latin typeface="Menlo"/>
              </a:rPr>
              <a:t>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</a:t>
            </a:r>
            <a:r>
              <a:rPr sz="1150" i="0">
                <a:solidFill>
                  <a:srgbClr val="7FD89A"/>
                </a:solidFill>
                <a:latin typeface="Menlo"/>
              </a:rPr>
              <a:t>"humidity"</a:t>
            </a:r>
            <a:r>
              <a:rPr sz="1150" i="0">
                <a:solidFill>
                  <a:srgbClr val="D7E0D5"/>
                </a:solidFill>
                <a:latin typeface="Menlo"/>
              </a:rPr>
              <a:t>: </a:t>
            </a:r>
            <a:r>
              <a:rPr sz="1150" i="0">
                <a:solidFill>
                  <a:srgbClr val="7FD89A"/>
                </a:solidFill>
                <a:latin typeface="Menlo"/>
              </a:rPr>
              <a:t>"open_sun_control"</a:t>
            </a:r>
            <a:r>
              <a:rPr sz="1150" i="0">
                <a:solidFill>
                  <a:srgbClr val="D7E0D5"/>
                </a:solidFill>
                <a:latin typeface="Menlo"/>
              </a:rPr>
              <a:t>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</a:t>
            </a:r>
            <a:r>
              <a:rPr sz="1150" i="0">
                <a:solidFill>
                  <a:srgbClr val="7FD89A"/>
                </a:solidFill>
                <a:latin typeface="Menlo"/>
              </a:rPr>
              <a:t>"irradiance"</a:t>
            </a:r>
            <a:r>
              <a:rPr sz="1150" i="0">
                <a:solidFill>
                  <a:srgbClr val="D7E0D5"/>
                </a:solidFill>
                <a:latin typeface="Menlo"/>
              </a:rPr>
              <a:t>: </a:t>
            </a:r>
            <a:r>
              <a:rPr sz="1150" i="0">
                <a:solidFill>
                  <a:srgbClr val="7FD89A"/>
                </a:solidFill>
                <a:latin typeface="Menlo"/>
              </a:rPr>
              <a:t>"ground_mounted_pv"</a:t>
            </a:r>
            <a:r>
              <a:rPr sz="1150" i="0">
                <a:solidFill>
                  <a:srgbClr val="D7E0D5"/>
                </a:solidFill>
                <a:latin typeface="Menlo"/>
              </a:rPr>
              <a:t>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}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F7C948"/>
                </a:solidFill>
                <a:latin typeface="Menlo"/>
              </a:rPr>
              <a:t>for</a:t>
            </a:r>
            <a:r>
              <a:rPr sz="1150" i="0">
                <a:solidFill>
                  <a:srgbClr val="D7E0D5"/>
                </a:solidFill>
                <a:latin typeface="Menlo"/>
              </a:rPr>
              <a:t> measurement, baseline </a:t>
            </a:r>
            <a:r>
              <a:rPr sz="1150" i="0">
                <a:solidFill>
                  <a:srgbClr val="F7C948"/>
                </a:solidFill>
                <a:latin typeface="Menlo"/>
              </a:rPr>
              <a:t>in</a:t>
            </a:r>
            <a:r>
              <a:rPr sz="1150" i="0">
                <a:solidFill>
                  <a:srgbClr val="D7E0D5"/>
                </a:solidFill>
                <a:latin typeface="Menlo"/>
              </a:rPr>
              <a:t> BASELINE...items():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ag = means.get((measurement, </a:t>
            </a:r>
            <a:r>
              <a:rPr sz="1150" i="0">
                <a:solidFill>
                  <a:srgbClr val="7FD89A"/>
                </a:solidFill>
                <a:latin typeface="Menlo"/>
              </a:rPr>
              <a:t>"agrivoltaic"</a:t>
            </a:r>
            <a:r>
              <a:rPr sz="1150" i="0">
                <a:solidFill>
                  <a:srgbClr val="D7E0D5"/>
                </a:solidFill>
                <a:latin typeface="Menlo"/>
              </a:rPr>
              <a:t>))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ref = means.get((measurement, baseline))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diff = ag - ref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rows.append({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150" i="0">
                <a:solidFill>
                  <a:srgbClr val="7FD89A"/>
                </a:solidFill>
                <a:latin typeface="Menlo"/>
              </a:rPr>
              <a:t>"measurement"</a:t>
            </a:r>
            <a:r>
              <a:rPr sz="1150" i="0">
                <a:solidFill>
                  <a:srgbClr val="D7E0D5"/>
                </a:solidFill>
                <a:latin typeface="Menlo"/>
              </a:rPr>
              <a:t>: measurement,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150" i="0">
                <a:solidFill>
                  <a:srgbClr val="7FD89A"/>
                </a:solidFill>
                <a:latin typeface="Menlo"/>
              </a:rPr>
              <a:t>"agrivoltaic"</a:t>
            </a:r>
            <a:r>
              <a:rPr sz="1150" i="0">
                <a:solidFill>
                  <a:srgbClr val="D7E0D5"/>
                </a:solidFill>
                <a:latin typeface="Menlo"/>
              </a:rPr>
              <a:t>: </a:t>
            </a:r>
            <a:r>
              <a:rPr sz="1150" i="0">
                <a:solidFill>
                  <a:srgbClr val="F7C948"/>
                </a:solidFill>
                <a:latin typeface="Menlo"/>
              </a:rPr>
              <a:t>round</a:t>
            </a:r>
            <a:r>
              <a:rPr sz="1150" i="0">
                <a:solidFill>
                  <a:srgbClr val="D7E0D5"/>
                </a:solidFill>
                <a:latin typeface="Menlo"/>
              </a:rPr>
              <a:t>(ag, </a:t>
            </a:r>
            <a:r>
              <a:rPr sz="1150" i="0">
                <a:solidFill>
                  <a:srgbClr val="F0A868"/>
                </a:solidFill>
                <a:latin typeface="Menlo"/>
              </a:rPr>
              <a:t>2</a:t>
            </a:r>
            <a:r>
              <a:rPr sz="1150" i="0">
                <a:solidFill>
                  <a:srgbClr val="D7E0D5"/>
                </a:solidFill>
                <a:latin typeface="Menlo"/>
              </a:rPr>
              <a:t>),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    </a:t>
            </a:r>
            <a:r>
              <a:rPr sz="1150" i="0">
                <a:solidFill>
                  <a:srgbClr val="7FD89A"/>
                </a:solidFill>
                <a:latin typeface="Menlo"/>
              </a:rPr>
              <a:t>"difference_pct"</a:t>
            </a:r>
            <a:r>
              <a:rPr sz="1150" i="0">
                <a:solidFill>
                  <a:srgbClr val="D7E0D5"/>
                </a:solidFill>
                <a:latin typeface="Menlo"/>
              </a:rPr>
              <a:t>: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D7E0D5"/>
                </a:solidFill>
                <a:latin typeface="Menlo"/>
              </a:rPr>
              <a:t>            </a:t>
            </a:r>
            <a:r>
              <a:rPr sz="1150" i="0">
                <a:solidFill>
                  <a:srgbClr val="F7C948"/>
                </a:solidFill>
                <a:latin typeface="Menlo"/>
              </a:rPr>
              <a:t>round</a:t>
            </a:r>
            <a:r>
              <a:rPr sz="1150" i="0">
                <a:solidFill>
                  <a:srgbClr val="D7E0D5"/>
                </a:solidFill>
                <a:latin typeface="Menlo"/>
              </a:rPr>
              <a:t>(diff / ref * </a:t>
            </a:r>
            <a:r>
              <a:rPr sz="1150" i="0">
                <a:solidFill>
                  <a:srgbClr val="F0A868"/>
                </a:solidFill>
                <a:latin typeface="Menlo"/>
              </a:rPr>
              <a:t>100</a:t>
            </a:r>
            <a:r>
              <a:rPr sz="1150" i="0">
                <a:solidFill>
                  <a:srgbClr val="D7E0D5"/>
                </a:solidFill>
                <a:latin typeface="Menlo"/>
              </a:rPr>
              <a:t>, </a:t>
            </a:r>
            <a:r>
              <a:rPr sz="1150" i="0">
                <a:solidFill>
                  <a:srgbClr val="F0A868"/>
                </a:solidFill>
                <a:latin typeface="Menlo"/>
              </a:rPr>
              <a:t>2</a:t>
            </a:r>
            <a:r>
              <a:rPr sz="1150" i="0">
                <a:solidFill>
                  <a:srgbClr val="D7E0D5"/>
                </a:solidFill>
                <a:latin typeface="Menlo"/>
              </a:rPr>
              <a:t>)})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04288"/>
            <a:ext cx="3291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54D17A"/>
                </a:solidFill>
                <a:latin typeface="Avenir Next"/>
              </a:rPr>
              <a:t>THE BASELINE IS THE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61488"/>
            <a:ext cx="3310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Temp &amp; humidity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63240"/>
            <a:ext cx="33101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Compared to the open control field (AO).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840480"/>
            <a:ext cx="3310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Irradiance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142232"/>
            <a:ext cx="33101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No sensor in the field — use full-sun PV (PO).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919472"/>
            <a:ext cx="33101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Honest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221224"/>
            <a:ext cx="3310127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We never compare against a baseline that isn't there.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6 ·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49 / 55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Do the panels keep the crops cooler?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Midday, agrivoltaic vs open control — straight from the pipeline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3413760" cy="2651760"/>
          </a:xfrm>
          <a:prstGeom prst="roundRect">
            <a:avLst>
              <a:gd name="adj" fmla="val 8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86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54D17A"/>
                </a:solidFill>
                <a:latin typeface="Avenir Next"/>
              </a:rPr>
              <a:t>-7.3°C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286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cooler at midday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65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27.9° vs 35.1° · temperature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3880" y="2423160"/>
            <a:ext cx="3413760" cy="2651760"/>
          </a:xfrm>
          <a:prstGeom prst="roundRect">
            <a:avLst>
              <a:gd name="adj" fmla="val 8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8200" y="2743200"/>
            <a:ext cx="286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7C948"/>
                </a:solidFill>
                <a:latin typeface="Avenir Next"/>
              </a:rPr>
              <a:t>-8.7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703320"/>
            <a:ext cx="286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lower humidity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4114800"/>
            <a:ext cx="2865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15.6% vs 24.3% · drier 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7680" y="2423160"/>
            <a:ext cx="3413760" cy="2651760"/>
          </a:xfrm>
          <a:prstGeom prst="roundRect">
            <a:avLst>
              <a:gd name="adj" fmla="val 8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2000" y="2743200"/>
            <a:ext cx="2865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06C5E"/>
                </a:solidFill>
                <a:latin typeface="Avenir Next"/>
              </a:rPr>
              <a:t>590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0" y="3703320"/>
            <a:ext cx="286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W/m² on the panels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4114800"/>
            <a:ext cx="2865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3A6"/>
                </a:solidFill>
                <a:latin typeface="Avenir Next"/>
              </a:rPr>
              <a:t>energy generation continues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4D17A"/>
                </a:solidFill>
                <a:latin typeface="Avenir Next"/>
              </a:rPr>
              <a:t>The dual-use win:  </a:t>
            </a:r>
            <a:r>
              <a:rPr sz="1400" b="0" i="0">
                <a:solidFill>
                  <a:srgbClr val="F3F1E9"/>
                </a:solidFill>
                <a:latin typeface="Avenir Next"/>
              </a:rPr>
              <a:t>a noticeably cooler crop microclimate, with the panels still capturing strong midday sun.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6 ·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50 / 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Answer Ama's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Summarise to the comparison grain and produce the chart.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024128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17271D"/>
          </a:solidFill>
          <a:ln w="19050">
            <a:solidFill>
              <a:srgbClr val="F7C9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207008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7C948"/>
                </a:solidFill>
                <a:latin typeface="Avenir Nex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6537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3A6"/>
                </a:solidFill>
                <a:latin typeface="Avenir Next"/>
              </a:rPr>
              <a:t>MINUTES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14016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Build the daily plot summary.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63824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Average the midday window per treatment.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13631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Compute agrivoltaic vs its open reference.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45152"/>
            <a:ext cx="457200" cy="457200"/>
          </a:xfrm>
          <a:prstGeom prst="ellipse">
            <a:avLst/>
          </a:prstGeom>
          <a:solidFill>
            <a:srgbClr val="1E3327"/>
          </a:solidFill>
          <a:ln w="1905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54D17A"/>
                </a:solidFill>
                <a:latin typeface="Avenir Nex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66344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3F1E9"/>
                </a:solidFill>
                <a:latin typeface="Avenir Next"/>
              </a:rPr>
              <a:t>Save the comparison CSV and the chart.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2356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B3A6"/>
                </a:solidFill>
                <a:latin typeface="Avenir Next"/>
              </a:rPr>
              <a:t>WORK IN   </a:t>
            </a:r>
            <a:r>
              <a:rPr sz="1350" b="0" i="0">
                <a:solidFill>
                  <a:srgbClr val="F7C948"/>
                </a:solidFill>
                <a:latin typeface="Menlo"/>
              </a:rPr>
              <a:t>src/transform.py · run_pipeline.py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6 ·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51 / 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3F1E9"/>
                </a:solidFill>
                <a:latin typeface="Avenir Next"/>
              </a:rPr>
              <a:t>You answered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A6"/>
                </a:solidFill>
                <a:latin typeface="Avenir Next"/>
              </a:rPr>
              <a:t>Pause and check the result before we wrap up.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7706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Readings are summarised to a daily, per-plot grain.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38727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5204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The midday comparison uses the correct baseline per measurement.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288536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27024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The temperature difference is real and reproducible.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5038344"/>
            <a:ext cx="310896" cy="310896"/>
          </a:xfrm>
          <a:prstGeom prst="ellipse">
            <a:avLst/>
          </a:prstGeom>
          <a:solidFill>
            <a:srgbClr val="2F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3F1E9"/>
                </a:solidFill>
                <a:latin typeface="Avenir Nex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50200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F1E9"/>
                </a:solidFill>
                <a:latin typeface="Avenir Next"/>
              </a:rPr>
              <a:t>Processed tables and a chart are saved to disk.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MODULE 6 ·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52 / 55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1E9"/>
                </a:solidFill>
                <a:latin typeface="Avenir Next"/>
              </a:rPr>
              <a:t>A reproducible result can still mislead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FB3A6"/>
                </a:solidFill>
                <a:latin typeface="Avenir Next"/>
              </a:rPr>
              <a:t>Trust includes responsible interpretation — not just a clean exit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57800" cy="292608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88336"/>
            <a:ext cx="146304" cy="146304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1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The pipeline can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45536"/>
            <a:ext cx="469087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Midday is cooler under the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panels across this dataset,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under the cleaning and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aggregation rules we encoded.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77440"/>
            <a:ext cx="5257800" cy="2926080"/>
          </a:xfrm>
          <a:prstGeom prst="roundRect">
            <a:avLst>
              <a:gd name="adj" fmla="val 7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59" y="2688336"/>
            <a:ext cx="146304" cy="146304"/>
          </a:xfrm>
          <a:prstGeom prst="ellipse">
            <a:avLst/>
          </a:prstGeom>
          <a:solidFill>
            <a:srgbClr val="E06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79" y="2615184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1E9"/>
                </a:solidFill>
                <a:latin typeface="Avenir Next"/>
              </a:rPr>
              <a:t>The pipeline cannot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3145536"/>
            <a:ext cx="4690872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That cooler air means higher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yield, or that this holds across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every season, soil, crop, and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9FB3A6"/>
                </a:solidFill>
                <a:latin typeface="Avenir Next"/>
              </a:rPr>
              <a:t>site in Ghana.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WRAP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53 / 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883664" cy="329184"/>
          </a:xfrm>
          <a:prstGeom prst="roundRect">
            <a:avLst>
              <a:gd name="adj" fmla="val 50000"/>
            </a:avLst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CARRY IT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3F1E9"/>
                </a:solidFill>
                <a:latin typeface="Avenir Next"/>
              </a:rPr>
              <a:t>Every result travels with its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65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FB3A6"/>
                </a:solidFill>
                <a:latin typeface="Avenir Next"/>
              </a:rPr>
              <a:t>Whenever you hand off a number, hand off these alongside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3413760" cy="1005840"/>
          </a:xfrm>
          <a:prstGeom prst="roundRect">
            <a:avLst>
              <a:gd name="adj" fmla="val 10000"/>
            </a:avLst>
          </a:prstGeom>
          <a:solidFill>
            <a:srgbClr val="0E1A13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3291840"/>
            <a:ext cx="164592" cy="16459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880360"/>
            <a:ext cx="26822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F1E9"/>
                </a:solidFill>
                <a:latin typeface="Avenir Next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880360"/>
            <a:ext cx="3413760" cy="1005840"/>
          </a:xfrm>
          <a:prstGeom prst="roundRect">
            <a:avLst>
              <a:gd name="adj" fmla="val 10000"/>
            </a:avLst>
          </a:prstGeom>
          <a:solidFill>
            <a:srgbClr val="0E1A13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48200" y="3291840"/>
            <a:ext cx="164592" cy="16459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68240" y="2880360"/>
            <a:ext cx="26822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F1E9"/>
                </a:solidFill>
                <a:latin typeface="Avenir Next"/>
              </a:rPr>
              <a:t>Licence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2880360"/>
            <a:ext cx="3413760" cy="1005840"/>
          </a:xfrm>
          <a:prstGeom prst="roundRect">
            <a:avLst>
              <a:gd name="adj" fmla="val 10000"/>
            </a:avLst>
          </a:prstGeom>
          <a:solidFill>
            <a:srgbClr val="0E1A13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382000" y="3291840"/>
            <a:ext cx="164592" cy="16459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02040" y="2880360"/>
            <a:ext cx="26822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F1E9"/>
                </a:solidFill>
                <a:latin typeface="Avenir Next"/>
              </a:rPr>
              <a:t>Grain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3413760" cy="1005840"/>
          </a:xfrm>
          <a:prstGeom prst="roundRect">
            <a:avLst>
              <a:gd name="adj" fmla="val 10000"/>
            </a:avLst>
          </a:prstGeom>
          <a:solidFill>
            <a:srgbClr val="0E1A13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4526280"/>
            <a:ext cx="164592" cy="16459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114800"/>
            <a:ext cx="26822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F1E9"/>
                </a:solidFill>
                <a:latin typeface="Avenir Next"/>
              </a:rPr>
              <a:t>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3880" y="4114800"/>
            <a:ext cx="3413760" cy="1005840"/>
          </a:xfrm>
          <a:prstGeom prst="roundRect">
            <a:avLst>
              <a:gd name="adj" fmla="val 10000"/>
            </a:avLst>
          </a:prstGeom>
          <a:solidFill>
            <a:srgbClr val="0E1A13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648200" y="4526280"/>
            <a:ext cx="164592" cy="16459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68240" y="4114800"/>
            <a:ext cx="26822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F1E9"/>
                </a:solidFill>
                <a:latin typeface="Avenir Next"/>
              </a:rPr>
              <a:t>Validation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7680" y="4114800"/>
            <a:ext cx="3413760" cy="1005840"/>
          </a:xfrm>
          <a:prstGeom prst="roundRect">
            <a:avLst>
              <a:gd name="adj" fmla="val 10000"/>
            </a:avLst>
          </a:prstGeom>
          <a:solidFill>
            <a:srgbClr val="0E1A13"/>
          </a:solidFill>
          <a:ln w="12700">
            <a:solidFill>
              <a:srgbClr val="2B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82000" y="4526280"/>
            <a:ext cx="164592" cy="164592"/>
          </a:xfrm>
          <a:prstGeom prst="ellipse">
            <a:avLst/>
          </a:prstGeom>
          <a:solidFill>
            <a:srgbClr val="54D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02040" y="4114800"/>
            <a:ext cx="26822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3F1E9"/>
                </a:solidFill>
                <a:latin typeface="Avenir Next"/>
              </a:rPr>
              <a:t>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WRAP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54 / 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731520"/>
            <a:ext cx="1984248" cy="329184"/>
          </a:xfrm>
          <a:prstGeom prst="roundRect">
            <a:avLst>
              <a:gd name="adj" fmla="val 50000"/>
            </a:avLst>
          </a:prstGeom>
          <a:solidFill>
            <a:srgbClr val="F7C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spc="60">
                <a:solidFill>
                  <a:srgbClr val="0E1A13"/>
                </a:solidFill>
                <a:latin typeface="Avenir Next"/>
              </a:rPr>
              <a:t>WORKSHOP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3F1E9"/>
                </a:solidFill>
                <a:latin typeface="Avenir Next"/>
              </a:rPr>
              <a:t>You built more than a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40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4D17A"/>
                </a:solidFill>
                <a:latin typeface="Avenir Next"/>
              </a:rPr>
              <a:t>You learned how trustworthy pipelines think.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3444240" cy="658368"/>
          </a:xfrm>
          <a:prstGeom prst="roundRect">
            <a:avLst>
              <a:gd name="adj" fmla="val 14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3444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Explicit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3108960"/>
            <a:ext cx="3444240" cy="658368"/>
          </a:xfrm>
          <a:prstGeom prst="roundRect">
            <a:avLst>
              <a:gd name="adj" fmla="val 14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58640" y="3108960"/>
            <a:ext cx="3444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Tidy reshaping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7200" y="3108960"/>
            <a:ext cx="3444240" cy="658368"/>
          </a:xfrm>
          <a:prstGeom prst="roundRect">
            <a:avLst>
              <a:gd name="adj" fmla="val 14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77200" y="3108960"/>
            <a:ext cx="3444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Decoded contracts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50208"/>
            <a:ext cx="3444240" cy="658368"/>
          </a:xfrm>
          <a:prstGeom prst="roundRect">
            <a:avLst>
              <a:gd name="adj" fmla="val 14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950208"/>
            <a:ext cx="3444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Honest cleaning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8640" y="3950208"/>
            <a:ext cx="3444240" cy="658368"/>
          </a:xfrm>
          <a:prstGeom prst="roundRect">
            <a:avLst>
              <a:gd name="adj" fmla="val 14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8640" y="3950208"/>
            <a:ext cx="3444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Executable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3950208"/>
            <a:ext cx="3444240" cy="658368"/>
          </a:xfrm>
          <a:prstGeom prst="roundRect">
            <a:avLst>
              <a:gd name="adj" fmla="val 14000"/>
            </a:avLst>
          </a:prstGeom>
          <a:solidFill>
            <a:srgbClr val="172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77200" y="3950208"/>
            <a:ext cx="34442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1E9"/>
                </a:solidFill>
                <a:latin typeface="Avenir Next"/>
              </a:rPr>
              <a:t>Reproducible answers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74920"/>
            <a:ext cx="10881360" cy="685800"/>
          </a:xfrm>
          <a:prstGeom prst="roundRect">
            <a:avLst>
              <a:gd name="adj" fmla="val 10000"/>
            </a:avLst>
          </a:prstGeom>
          <a:solidFill>
            <a:srgbClr val="0A1410"/>
          </a:solidFill>
          <a:ln w="12700">
            <a:solidFill>
              <a:srgbClr val="54D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0749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4D17A"/>
                </a:solidFill>
                <a:latin typeface="Avenir Next"/>
              </a:rPr>
              <a:t>THE TEST    </a:t>
            </a:r>
            <a:r>
              <a:rPr sz="1500" b="0" i="0">
                <a:solidFill>
                  <a:srgbClr val="F3F1E9"/>
                </a:solidFill>
                <a:latin typeface="Avenir Next"/>
              </a:rPr>
              <a:t>Can someone else rerun it, understand what happened, and trust the result?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3A6"/>
                </a:solidFill>
                <a:latin typeface="Avenir Next"/>
              </a:rPr>
              <a:t>Agrivoltaic Dataset Ghana  ·  Responsible AI Lab, KNUST  ·  FAIR Forward  ·  CC-BY 4.0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AUTOMATING DATA PIPELINES  ·  WRAP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46520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3A6"/>
                </a:solidFill>
                <a:latin typeface="Avenir Next"/>
              </a:rPr>
              <a:t>55 /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5673</Words>
  <Application>Microsoft Macintosh PowerPoint</Application>
  <PresentationFormat>Widescreen</PresentationFormat>
  <Paragraphs>989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Avenir Next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Gyang</cp:lastModifiedBy>
  <cp:revision>3</cp:revision>
  <dcterms:created xsi:type="dcterms:W3CDTF">2013-01-27T09:14:16Z</dcterms:created>
  <dcterms:modified xsi:type="dcterms:W3CDTF">2026-06-23T02:20:00Z</dcterms:modified>
  <cp:category/>
</cp:coreProperties>
</file>