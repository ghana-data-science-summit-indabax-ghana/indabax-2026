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87" r:id="rId4"/>
    <p:sldId id="283" r:id="rId6"/>
    <p:sldId id="284" r:id="rId7"/>
    <p:sldId id="286" r:id="rId8"/>
    <p:sldId id="257" r:id="rId9"/>
    <p:sldId id="259" r:id="rId10"/>
    <p:sldId id="260" r:id="rId11"/>
    <p:sldId id="261" r:id="rId12"/>
    <p:sldId id="262" r:id="rId13"/>
    <p:sldId id="263" r:id="rId14"/>
    <p:sldId id="270" r:id="rId15"/>
    <p:sldId id="275" r:id="rId16"/>
    <p:sldId id="265" r:id="rId17"/>
    <p:sldId id="274" r:id="rId18"/>
    <p:sldId id="288" r:id="rId19"/>
    <p:sldId id="266" r:id="rId20"/>
    <p:sldId id="267" r:id="rId21"/>
    <p:sldId id="271" r:id="rId22"/>
    <p:sldId id="277" r:id="rId23"/>
    <p:sldId id="268" r:id="rId24"/>
    <p:sldId id="273" r:id="rId25"/>
    <p:sldId id="272" r:id="rId26"/>
    <p:sldId id="258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6ABA6-83B4-4C47-9A66-C8B117DC508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604107-8766-4748-9202-6E82A0C41DA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04107-8766-4748-9202-6E82A0C41DA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manufacturing</a:t>
            </a:r>
            <a:r>
              <a:rPr lang="en-US" baseline="0" dirty="0"/>
              <a:t> process do we know to adopt full/partial AI capabilities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604107-8766-4748-9202-6E82A0C41DA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604107-8766-4748-9202-6E82A0C41DA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29D6989-2BC7-481D-B8D1-72BF24BA5B2E}" type="datetimeFigureOut">
              <a:rPr lang="en-US" smtClean="0"/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D507AB9-7795-4F84-AEE0-DB91024B48B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D6989-2BC7-481D-B8D1-72BF24BA5B2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7AB9-7795-4F84-AEE0-DB91024B48B0}" type="slidenum">
              <a:rPr lang="en-US" smtClean="0"/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D6989-2BC7-481D-B8D1-72BF24BA5B2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7AB9-7795-4F84-AEE0-DB91024B48B0}" type="slidenum">
              <a:rPr lang="en-US" smtClean="0"/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D6989-2BC7-481D-B8D1-72BF24BA5B2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7AB9-7795-4F84-AEE0-DB91024B48B0}" type="slidenum">
              <a:rPr lang="en-US" smtClean="0"/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D6989-2BC7-481D-B8D1-72BF24BA5B2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7AB9-7795-4F84-AEE0-DB91024B48B0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D6989-2BC7-481D-B8D1-72BF24BA5B2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7AB9-7795-4F84-AEE0-DB91024B48B0}" type="slidenum">
              <a:rPr lang="en-US" smtClean="0"/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D6989-2BC7-481D-B8D1-72BF24BA5B2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7AB9-7795-4F84-AEE0-DB91024B48B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729D6989-2BC7-481D-B8D1-72BF24BA5B2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7AB9-7795-4F84-AEE0-DB91024B48B0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9D6989-2BC7-481D-B8D1-72BF24BA5B2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507AB9-7795-4F84-AEE0-DB91024B48B0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/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D6989-2BC7-481D-B8D1-72BF24BA5B2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7AB9-7795-4F84-AEE0-DB91024B48B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D6989-2BC7-481D-B8D1-72BF24BA5B2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7AB9-7795-4F84-AEE0-DB91024B48B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/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  <a:p>
            <a:pPr lvl="1" eaLnBrk="1" latinLnBrk="0" hangingPunct="1"/>
            <a:r>
              <a:rPr kumimoji="0" lang="en-US"/>
              <a:t>Second level</a:t>
            </a:r>
            <a:endParaRPr kumimoji="0" lang="en-US"/>
          </a:p>
          <a:p>
            <a:pPr lvl="2" eaLnBrk="1" latinLnBrk="0" hangingPunct="1"/>
            <a:r>
              <a:rPr kumimoji="0" lang="en-US"/>
              <a:t>Third level</a:t>
            </a:r>
            <a:endParaRPr kumimoji="0" lang="en-US"/>
          </a:p>
          <a:p>
            <a:pPr lvl="3" eaLnBrk="1" latinLnBrk="0" hangingPunct="1"/>
            <a:r>
              <a:rPr kumimoji="0" lang="en-US"/>
              <a:t>Fourth level</a:t>
            </a:r>
            <a:endParaRPr kumimoji="0" lang="en-US"/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fld id="{729D6989-2BC7-481D-B8D1-72BF24BA5B2E}" type="datetimeFigureOut">
              <a:rPr lang="en-US" smtClean="0"/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2D507AB9-7795-4F84-AEE0-DB91024B48B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 panose="05040102010807070707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665" indent="-228600" algn="l" rtl="0" eaLnBrk="1" latinLnBrk="0" hangingPunct="1">
        <a:spcBef>
          <a:spcPts val="325"/>
        </a:spcBef>
        <a:buClr>
          <a:schemeClr val="accent1"/>
        </a:buClr>
        <a:buFont typeface="Verdana" panose="020B0604030504040204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790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 panose="05020102010507070707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srnghn.medium.com/deep-learning-overview-of-neurons-and-activation-functions-1d98286cf1e4" TargetMode="External"/><Relationship Id="rId3" Type="http://schemas.openxmlformats.org/officeDocument/2006/relationships/hyperlink" Target="https://blog.gopenai.com/decision-tree-algorithm-484ec33387f9" TargetMode="External"/><Relationship Id="rId2" Type="http://schemas.openxmlformats.org/officeDocument/2006/relationships/hyperlink" Target="https://medium.com/@abhaysingh71711/linear-regression-the-cornerstone-of-predictive-analytics-12fd31f094c3" TargetMode="External"/><Relationship Id="rId1" Type="http://schemas.openxmlformats.org/officeDocument/2006/relationships/hyperlink" Target="https://cyfuture.ai/blog/top-10-ai-models-transforming-industries#:~:text=Real%2Dtime%20multilingual%20transcription%20is,8.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/>
              <a:t>Interpretable Machine Learning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4800" dirty="0"/>
              <a:t>XAI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C:/Users/Project PC/Desktop/personal folder/New folder/Erica_Akanko.jpgErica_Akanko"/>
          <p:cNvPicPr>
            <a:picLocks noGrp="1" noChangeAspect="1"/>
          </p:cNvPicPr>
          <p:nvPr>
            <p:ph sz="half" idx="1"/>
          </p:nvPr>
        </p:nvPicPr>
        <p:blipFill>
          <a:blip r:embed="rId1"/>
          <a:srcRect l="-800" t="-925" r="800" b="19528"/>
          <a:stretch>
            <a:fillRect/>
          </a:stretch>
        </p:blipFill>
        <p:spPr>
          <a:xfrm>
            <a:off x="371475" y="1196340"/>
            <a:ext cx="3017520" cy="350266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66" r="13133" b="30130"/>
          <a:stretch>
            <a:fillRect/>
          </a:stretch>
        </p:blipFill>
        <p:spPr>
          <a:xfrm>
            <a:off x="5868035" y="1340485"/>
            <a:ext cx="3047490" cy="350215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Facilitators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5106352"/>
            <a:ext cx="46551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Bioinformatician, West African Centre for Cell Biology of infectious Pathogens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5847159" y="5238943"/>
            <a:ext cx="3296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Embedded AI researcher – Palm University</a:t>
            </a: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179731" y="4622752"/>
            <a:ext cx="2736303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Erica </a:t>
            </a:r>
            <a:r>
              <a:rPr lang="en-US" sz="3200" dirty="0" err="1"/>
              <a:t>Akanko</a:t>
            </a:r>
            <a:endParaRPr lang="en-US" sz="3200" dirty="0"/>
          </a:p>
        </p:txBody>
      </p:sp>
      <p:sp>
        <p:nvSpPr>
          <p:cNvPr id="14" name="TextBox 13"/>
          <p:cNvSpPr txBox="1"/>
          <p:nvPr/>
        </p:nvSpPr>
        <p:spPr>
          <a:xfrm>
            <a:off x="5724697" y="4724729"/>
            <a:ext cx="32832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Maxwell Owusu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 sz="3200" dirty="0"/>
              <a:t>Understanding </a:t>
            </a:r>
            <a:r>
              <a:rPr lang="en-US" sz="3200" dirty="0" smtClean="0"/>
              <a:t>the concept of</a:t>
            </a:r>
            <a:r>
              <a:rPr lang="en-US" sz="3200" dirty="0" smtClean="0"/>
              <a:t> </a:t>
            </a:r>
            <a:r>
              <a:rPr lang="en-US" sz="3200" dirty="0"/>
              <a:t>interpretability in machine learning </a:t>
            </a:r>
            <a:endParaRPr lang="en-US" sz="3200" dirty="0"/>
          </a:p>
          <a:p>
            <a:pPr lvl="0"/>
            <a:endParaRPr lang="en-US" dirty="0"/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3200" dirty="0"/>
              <a:t>Distinguish between interpretable and black-box models </a:t>
            </a:r>
            <a:endParaRPr lang="en-US" sz="32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of Content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3200" dirty="0"/>
              <a:t>Explore the difference between global and local explanations </a:t>
            </a:r>
            <a:endParaRPr lang="en-US" sz="3200" dirty="0"/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3200" dirty="0"/>
              <a:t>Explore simple techniques for explaining model predictions </a:t>
            </a:r>
            <a:endParaRPr lang="en-US" sz="3200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of Content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618856" cy="4525963"/>
          </a:xfrm>
        </p:spPr>
        <p:txBody>
          <a:bodyPr/>
          <a:lstStyle/>
          <a:p>
            <a:pPr lvl="0"/>
            <a:r>
              <a:rPr lang="en-US" sz="3200" dirty="0"/>
              <a:t>Gain hands-on exposure to basic interpretability tools (e.g., feature importance, SHAP/LIME) </a:t>
            </a:r>
            <a:endParaRPr lang="en-US" sz="3200" dirty="0"/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5148064" y="1481328"/>
            <a:ext cx="3888432" cy="4525963"/>
          </a:xfrm>
        </p:spPr>
        <p:txBody>
          <a:bodyPr/>
          <a:lstStyle/>
          <a:p>
            <a:r>
              <a:rPr lang="en-US" sz="3200" dirty="0"/>
              <a:t>Recognize limitations and potential pitfalls of explanations </a:t>
            </a:r>
            <a:endParaRPr lang="en-US" sz="3200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of Content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Scope of AI in daily lives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It is estimated that by the end of 2026, Artificial intelligent will be fundamental component in almost every business operation</a:t>
            </a:r>
            <a:r>
              <a:rPr lang="en-US" sz="1200" dirty="0"/>
              <a:t>[1]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780928"/>
            <a:ext cx="8350423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71745" y="1284287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Manufacturing / Mining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4" y="1268760"/>
            <a:ext cx="8412163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2505898"/>
            <a:ext cx="4038600" cy="2476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8200" y="2144942"/>
            <a:ext cx="4038600" cy="3198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Education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12776"/>
            <a:ext cx="3851919" cy="2505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268760"/>
            <a:ext cx="4038600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</a:t>
            </a:r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304132"/>
            <a:ext cx="4032448" cy="3483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2524542"/>
            <a:ext cx="4038600" cy="2439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8200" y="1569488"/>
            <a:ext cx="4038600" cy="4349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Trade and Logistics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512" y="1600200"/>
            <a:ext cx="4573226" cy="4525963"/>
          </a:xfrm>
        </p:spPr>
        <p:txBody>
          <a:bodyPr>
            <a:normAutofit fontScale="55000" lnSpcReduction="20000"/>
          </a:bodyPr>
          <a:lstStyle/>
          <a:p>
            <a:pPr marL="109855" indent="0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4600" b="1" baseline="-25000" dirty="0"/>
              <a:t>IF</a:t>
            </a:r>
            <a:endParaRPr lang="en-US" sz="4600" b="1" baseline="-25000" dirty="0"/>
          </a:p>
          <a:p>
            <a:r>
              <a:rPr lang="en-US" sz="2300" dirty="0"/>
              <a:t>AI </a:t>
            </a:r>
            <a:r>
              <a:rPr lang="en-US" sz="3100" dirty="0"/>
              <a:t>and Robots are moving from Automated Systems to advanced Socially Assisted Systems, … </a:t>
            </a:r>
            <a:endParaRPr lang="en-US" sz="3100" dirty="0"/>
          </a:p>
          <a:p>
            <a:pPr marL="0" indent="0" algn="ctr">
              <a:buNone/>
            </a:pPr>
            <a:r>
              <a:rPr lang="en-US" sz="5700" b="1" baseline="-25000" dirty="0"/>
              <a:t>IF</a:t>
            </a:r>
            <a:endParaRPr lang="en-US" sz="5700" b="1" baseline="-25000" dirty="0"/>
          </a:p>
          <a:p>
            <a:endParaRPr lang="en-US" sz="3100" dirty="0"/>
          </a:p>
          <a:p>
            <a:r>
              <a:rPr lang="en-US" sz="3100" dirty="0"/>
              <a:t>AI is moving from Assisted Systems to Collaborative Systems (Human collaborators and Interns)</a:t>
            </a:r>
            <a:endParaRPr lang="en-US" sz="3100" dirty="0"/>
          </a:p>
          <a:p>
            <a:pPr marL="0" indent="0" algn="ctr">
              <a:buNone/>
            </a:pPr>
            <a:r>
              <a:rPr lang="en-US" sz="4600" b="1" baseline="-25000" dirty="0"/>
              <a:t>IF</a:t>
            </a:r>
            <a:endParaRPr lang="en-US" sz="4600" b="1" baseline="-25000" dirty="0"/>
          </a:p>
          <a:p>
            <a:endParaRPr lang="en-US" sz="3100" dirty="0"/>
          </a:p>
          <a:p>
            <a:r>
              <a:rPr lang="en-US" sz="3100" dirty="0"/>
              <a:t>AI taking Autonomous Decisions,…</a:t>
            </a:r>
            <a:endParaRPr lang="en-US" sz="31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357340" y="1600200"/>
            <a:ext cx="3607148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300" b="1" dirty="0"/>
              <a:t>THEN WHO SHOULD BE  HELD…</a:t>
            </a:r>
            <a:endParaRPr lang="en-US" sz="4300" b="1" dirty="0"/>
          </a:p>
          <a:p>
            <a:pPr marL="0" indent="0">
              <a:buNone/>
            </a:pPr>
            <a:endParaRPr lang="en-US" sz="4300" b="1" dirty="0"/>
          </a:p>
          <a:p>
            <a:pPr marL="514350" indent="-514350">
              <a:lnSpc>
                <a:spcPct val="170000"/>
              </a:lnSpc>
              <a:buAutoNum type="alphaUcPeriod"/>
            </a:pPr>
            <a:r>
              <a:rPr lang="en-US" sz="3000" b="1" i="1" dirty="0"/>
              <a:t>Accountable?</a:t>
            </a:r>
            <a:endParaRPr lang="en-US" sz="3000" b="1" i="1" dirty="0"/>
          </a:p>
          <a:p>
            <a:pPr marL="514350" indent="-514350">
              <a:lnSpc>
                <a:spcPct val="170000"/>
              </a:lnSpc>
              <a:buAutoNum type="alphaUcPeriod"/>
            </a:pPr>
            <a:r>
              <a:rPr lang="en-US" sz="3000" b="1" i="1" dirty="0"/>
              <a:t>Liable?</a:t>
            </a:r>
            <a:endParaRPr lang="en-US" sz="3000" b="1" i="1" dirty="0"/>
          </a:p>
          <a:p>
            <a:pPr marL="514350" indent="-514350">
              <a:lnSpc>
                <a:spcPct val="170000"/>
              </a:lnSpc>
              <a:buAutoNum type="alphaUcPeriod"/>
            </a:pPr>
            <a:r>
              <a:rPr lang="en-US" sz="3000" b="1" i="1" dirty="0"/>
              <a:t>Responsible?</a:t>
            </a:r>
            <a:endParaRPr lang="en-US" sz="3000" b="1" i="1" dirty="0"/>
          </a:p>
          <a:p>
            <a:pPr marL="0" indent="0">
              <a:lnSpc>
                <a:spcPct val="220000"/>
              </a:lnSpc>
              <a:buNone/>
            </a:pPr>
            <a:r>
              <a:rPr lang="en-US" sz="3000" b="1" i="1" dirty="0"/>
              <a:t>For decisions made either with the help of AI or solely by AI</a:t>
            </a:r>
            <a:endParaRPr lang="en-US" sz="3000" b="1" i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  Accountability and Responsibility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498" y="2394596"/>
            <a:ext cx="280988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Need For AI with Accountability…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4294967295"/>
          </p:nvPr>
        </p:nvSpPr>
        <p:spPr>
          <a:xfrm>
            <a:off x="0" y="1481138"/>
            <a:ext cx="8229600" cy="4525962"/>
          </a:xfrm>
        </p:spPr>
        <p:txBody>
          <a:bodyPr>
            <a:normAutofit/>
          </a:bodyPr>
          <a:lstStyle/>
          <a:p>
            <a:r>
              <a:rPr lang="en-US" dirty="0"/>
              <a:t>If AI takes control of our major decision making processes, then there should be the need for this same AI to take some responsibilities…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BUT HOW??????</a:t>
            </a:r>
            <a:endParaRPr lang="en-US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can AI be accountable -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0" y="1481138"/>
            <a:ext cx="8229600" cy="45259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AI must at least interpret and explain their predictions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need for AI with the Ability to explain Its actions is what we term as   </a:t>
            </a:r>
            <a:r>
              <a:rPr lang="en-US" b="1" dirty="0"/>
              <a:t>ML Interpretability and Explainability</a:t>
            </a:r>
            <a:endParaRPr lang="en-US" b="1" dirty="0"/>
          </a:p>
          <a:p>
            <a:endParaRPr lang="en-US" b="1" dirty="0"/>
          </a:p>
          <a:p>
            <a:pPr marL="109855" indent="0">
              <a:buNone/>
            </a:pPr>
            <a:endParaRPr lang="en-US" b="1" dirty="0"/>
          </a:p>
          <a:p>
            <a:endParaRPr lang="en-US" b="1" dirty="0"/>
          </a:p>
          <a:p>
            <a:r>
              <a:rPr lang="en-US" b="1" dirty="0"/>
              <a:t>What is ML Interpretability ?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ML Interpretability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4294967295"/>
          </p:nvPr>
        </p:nvSpPr>
        <p:spPr>
          <a:xfrm>
            <a:off x="5102225" y="5410200"/>
            <a:ext cx="4041775" cy="762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 the Crystal Clear Glass Box of 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444625"/>
            <a:ext cx="4040188" cy="39417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4294967295"/>
          </p:nvPr>
        </p:nvSpPr>
        <p:spPr>
          <a:xfrm>
            <a:off x="0" y="5410200"/>
            <a:ext cx="4040188" cy="762000"/>
          </a:xfrm>
        </p:spPr>
        <p:txBody>
          <a:bodyPr>
            <a:normAutofit fontScale="85000" lnSpcReduction="20000"/>
          </a:bodyPr>
          <a:lstStyle/>
          <a:p>
            <a:r>
              <a:rPr lang="en-US" sz="3200" dirty="0"/>
              <a:t>From The Dark Black Box of ML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571"/>
          <a:stretch>
            <a:fillRect/>
          </a:stretch>
        </p:blipFill>
        <p:spPr>
          <a:xfrm>
            <a:off x="4709120" y="1412776"/>
            <a:ext cx="3888432" cy="4034729"/>
          </a:xfrm>
          <a:prstGeom prst="rect">
            <a:avLst/>
          </a:prstGeom>
        </p:spPr>
      </p:pic>
      <p:pic>
        <p:nvPicPr>
          <p:cNvPr id="6" name="Content Placeholder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9"/>
          <a:stretch>
            <a:fillRect/>
          </a:stretch>
        </p:blipFill>
        <p:spPr>
          <a:xfrm>
            <a:off x="830288" y="1412776"/>
            <a:ext cx="3672408" cy="40324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What is ML Black Box</a:t>
            </a:r>
            <a:endParaRPr lang="en-US" b="1" dirty="0"/>
          </a:p>
          <a:p>
            <a:pPr marL="393065" lvl="1" indent="0">
              <a:buNone/>
            </a:pPr>
            <a:endParaRPr lang="en-US" sz="2400" i="1" dirty="0"/>
          </a:p>
          <a:p>
            <a:pPr marL="393065" lvl="1" indent="0">
              <a:buNone/>
            </a:pPr>
            <a:r>
              <a:rPr lang="en-US" sz="2400" i="1" dirty="0"/>
              <a:t>An ML black box is an AI system where inputs and outputs are visible, but the internal decision-making process is opaque, complex, or unknown to users</a:t>
            </a:r>
            <a:endParaRPr lang="en-US" sz="2400" i="1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ML Glass Box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machine learning models that are </a:t>
            </a:r>
            <a:r>
              <a:rPr lang="en-US" b="1" dirty="0"/>
              <a:t>intrinsically interpretable</a:t>
            </a:r>
            <a:r>
              <a:rPr lang="en-US" dirty="0"/>
              <a:t>, meaning their internal logic, structure, and decision-making processes are transparent and can be understood directly by humans</a:t>
            </a:r>
            <a:endParaRPr lang="en-US" b="1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Black and Glass Boxes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Fundamental Objective of ML Interpretability</a:t>
            </a:r>
            <a:endParaRPr lang="en-US" dirty="0"/>
          </a:p>
        </p:txBody>
      </p:sp>
      <p:sp>
        <p:nvSpPr>
          <p:cNvPr id="5" name="Rectangle 4" descr="Checkmark"/>
          <p:cNvSpPr/>
          <p:nvPr/>
        </p:nvSpPr>
        <p:spPr>
          <a:xfrm>
            <a:off x="683568" y="1484784"/>
            <a:ext cx="7200800" cy="324036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TextBox 5"/>
          <p:cNvSpPr txBox="1"/>
          <p:nvPr/>
        </p:nvSpPr>
        <p:spPr>
          <a:xfrm>
            <a:off x="683568" y="5085184"/>
            <a:ext cx="849694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Predictions and Actions Must be humanly </a:t>
            </a:r>
            <a:r>
              <a:rPr lang="en-US" sz="2000" b="1" dirty="0" smtClean="0"/>
              <a:t>understandable</a:t>
            </a:r>
            <a:endParaRPr lang="en-US" sz="2000" b="1" dirty="0" smtClean="0"/>
          </a:p>
          <a:p>
            <a:pPr lvl="0"/>
            <a:endParaRPr lang="en-US" sz="2000" b="1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There must be insightful justification for  </a:t>
            </a:r>
            <a:r>
              <a:rPr lang="en-US" sz="2000" b="1" dirty="0" smtClean="0"/>
              <a:t>a given </a:t>
            </a:r>
            <a:r>
              <a:rPr lang="en-US" sz="2000" b="1" dirty="0"/>
              <a:t>Predictions in </a:t>
            </a:r>
            <a:r>
              <a:rPr lang="en-US" sz="2000" b="1" dirty="0" smtClean="0"/>
              <a:t>AI interpretability</a:t>
            </a:r>
            <a:endParaRPr lang="en-US" sz="2000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dirty="0"/>
              <a:t>Why ML Interpretability Matters 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85"/>
          <a:stretch>
            <a:fillRect/>
          </a:stretch>
        </p:blipFill>
        <p:spPr bwMode="auto">
          <a:xfrm>
            <a:off x="323528" y="1340768"/>
            <a:ext cx="8352928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ML Interpretability can be achieved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marL="0" indent="0">
              <a:buNone/>
              <a:defRPr sz="2400"/>
            </a:pPr>
            <a:r>
              <a:rPr lang="en-US" b="1" dirty="0"/>
              <a:t>Intrinsic Interpretability</a:t>
            </a:r>
            <a:endParaRPr lang="en-US" b="1" dirty="0"/>
          </a:p>
          <a:p>
            <a:pPr lvl="1">
              <a:defRPr sz="2400"/>
            </a:pPr>
            <a:r>
              <a:rPr lang="en-US" dirty="0"/>
              <a:t>Simple and transparent models</a:t>
            </a:r>
            <a:endParaRPr lang="en-US" dirty="0"/>
          </a:p>
          <a:p>
            <a:pPr lvl="1">
              <a:defRPr sz="2400"/>
            </a:pPr>
            <a:r>
              <a:rPr lang="en-US" b="1" dirty="0"/>
              <a:t>Easy to understand internally</a:t>
            </a:r>
            <a:endParaRPr lang="en-US" b="1" dirty="0"/>
          </a:p>
          <a:p>
            <a:pPr>
              <a:defRPr sz="2400"/>
            </a:pPr>
            <a:endParaRPr lang="en-US" b="1" dirty="0"/>
          </a:p>
          <a:p>
            <a:pPr>
              <a:defRPr sz="2400"/>
            </a:pPr>
            <a:endParaRPr lang="en-US" b="1" dirty="0"/>
          </a:p>
          <a:p>
            <a:pPr>
              <a:defRPr sz="2400"/>
            </a:pPr>
            <a:endParaRPr lang="en-US" b="1" dirty="0"/>
          </a:p>
          <a:p>
            <a:pPr lvl="2">
              <a:defRPr sz="2400"/>
            </a:pPr>
            <a:r>
              <a:rPr lang="en-US" dirty="0"/>
              <a:t>Examples: Decision Trees, Linear Regression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2304742"/>
            <a:ext cx="4038600" cy="2878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4008" y="1628800"/>
            <a:ext cx="4038600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and Decision Tree 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Difficulty in some model interpretabilities.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r>
              <a:rPr lang="en-US" dirty="0"/>
              <a:t>Some ML models are more complex and has extreme difficulty in interpreting it’s internal workings and results.</a:t>
            </a:r>
            <a:endParaRPr lang="en-US" dirty="0"/>
          </a:p>
          <a:p>
            <a:pPr lvl="2"/>
            <a:r>
              <a:rPr lang="en-US" dirty="0"/>
              <a:t> Artificial Neural Networks (ANN)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212976"/>
            <a:ext cx="8208912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ML Interpretability can be achieved in Complex ANN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Post-hoc Interpretability</a:t>
            </a:r>
            <a:endParaRPr lang="en-US" b="1" dirty="0"/>
          </a:p>
          <a:p>
            <a:pPr>
              <a:defRPr sz="2400"/>
            </a:pPr>
            <a:r>
              <a:rPr lang="en-US" dirty="0"/>
              <a:t>Explains complex (black-box) models</a:t>
            </a:r>
            <a:endParaRPr lang="en-US" dirty="0"/>
          </a:p>
          <a:p>
            <a:pPr>
              <a:defRPr sz="2400"/>
            </a:pPr>
            <a:r>
              <a:rPr lang="en-US" dirty="0"/>
              <a:t>Applied after model training</a:t>
            </a:r>
            <a:endParaRPr lang="en-US" dirty="0"/>
          </a:p>
          <a:p>
            <a:pPr>
              <a:defRPr sz="2400"/>
            </a:pPr>
            <a:r>
              <a:rPr lang="en-US" dirty="0"/>
              <a:t>Examples: SHAP, LIME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Can AI enabled medical robot be sued for medical negligence?</a:t>
            </a:r>
            <a:endParaRPr lang="en-US" dirty="0"/>
          </a:p>
          <a:p>
            <a:endParaRPr lang="en-US" dirty="0"/>
          </a:p>
          <a:p>
            <a:r>
              <a:rPr lang="en-US" dirty="0"/>
              <a:t>Who should be charged for traffic offense?</a:t>
            </a:r>
            <a:endParaRPr lang="en-US" dirty="0"/>
          </a:p>
          <a:p>
            <a:pPr lvl="1"/>
            <a:r>
              <a:rPr lang="en-US" dirty="0"/>
              <a:t>The driverless car?</a:t>
            </a:r>
            <a:endParaRPr lang="en-US" dirty="0"/>
          </a:p>
          <a:p>
            <a:pPr lvl="1"/>
            <a:r>
              <a:rPr lang="en-US" dirty="0"/>
              <a:t>The passenger?</a:t>
            </a:r>
            <a:br>
              <a:rPr lang="en-US" dirty="0"/>
            </a:br>
            <a:r>
              <a:rPr lang="en-US" dirty="0"/>
              <a:t>The owner?</a:t>
            </a:r>
            <a:endParaRPr lang="en-US" dirty="0"/>
          </a:p>
          <a:p>
            <a:pPr lvl="1"/>
            <a:r>
              <a:rPr lang="en-US" dirty="0"/>
              <a:t>The manufacturer?</a:t>
            </a:r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Who should be held responsible for losses in forex trading?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Discussion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Hands-on Demonstration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1"/>
              </a:rPr>
              <a:t>Leading AI Models Revolutionizing Industries in 2026</a:t>
            </a:r>
            <a:endParaRPr lang="en-US" dirty="0"/>
          </a:p>
          <a:p>
            <a:r>
              <a:rPr lang="en-US" dirty="0">
                <a:hlinkClick r:id="rId2"/>
              </a:rPr>
              <a:t>Linear Regression: The Cornerstone of Predictive Analytics | by </a:t>
            </a:r>
            <a:r>
              <a:rPr lang="en-US" dirty="0" err="1">
                <a:hlinkClick r:id="rId2"/>
              </a:rPr>
              <a:t>Abhay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singh</a:t>
            </a:r>
            <a:r>
              <a:rPr lang="en-US" dirty="0">
                <a:hlinkClick r:id="rId2"/>
              </a:rPr>
              <a:t> | Medium</a:t>
            </a:r>
            <a:endParaRPr lang="en-US" dirty="0"/>
          </a:p>
          <a:p>
            <a:r>
              <a:rPr lang="en-US" dirty="0">
                <a:hlinkClick r:id="rId3"/>
              </a:rPr>
              <a:t>Decision Tree Algorithm. Demystifying Decision Tree Classifier… | by Abdul4code | </a:t>
            </a:r>
            <a:r>
              <a:rPr lang="en-US" dirty="0" err="1">
                <a:hlinkClick r:id="rId3"/>
              </a:rPr>
              <a:t>GoPenAI</a:t>
            </a:r>
            <a:endParaRPr lang="en-US" dirty="0"/>
          </a:p>
          <a:p>
            <a:r>
              <a:rPr lang="en-US" dirty="0">
                <a:hlinkClick r:id="rId4"/>
              </a:rPr>
              <a:t>Deep Learning: Overview of Neurons and Activation Functions | by Stacey </a:t>
            </a:r>
            <a:r>
              <a:rPr lang="en-US" dirty="0" err="1">
                <a:hlinkClick r:id="rId4"/>
              </a:rPr>
              <a:t>Ronaghan</a:t>
            </a:r>
            <a:r>
              <a:rPr lang="en-US" dirty="0">
                <a:hlinkClick r:id="rId4"/>
              </a:rPr>
              <a:t> | Medium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3480</Words>
  <Application>WPS Presentation</Application>
  <PresentationFormat>On-screen Show (4:3)</PresentationFormat>
  <Paragraphs>168</Paragraphs>
  <Slides>24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SimSun</vt:lpstr>
      <vt:lpstr>Wingdings</vt:lpstr>
      <vt:lpstr>Wingdings 3</vt:lpstr>
      <vt:lpstr>Verdana</vt:lpstr>
      <vt:lpstr>Wingdings 2</vt:lpstr>
      <vt:lpstr>Lucida Sans Unicode</vt:lpstr>
      <vt:lpstr>Microsoft YaHei</vt:lpstr>
      <vt:lpstr>Arial Unicode MS</vt:lpstr>
      <vt:lpstr>Calibri</vt:lpstr>
      <vt:lpstr>Concourse</vt:lpstr>
      <vt:lpstr>Interpretable Machine Learning</vt:lpstr>
      <vt:lpstr>Facilitators</vt:lpstr>
      <vt:lpstr>Table of Content</vt:lpstr>
      <vt:lpstr>Table of Content</vt:lpstr>
      <vt:lpstr>Table of Content</vt:lpstr>
      <vt:lpstr>The Scope of AI in daily lives</vt:lpstr>
      <vt:lpstr>Manufacturing / Mining</vt:lpstr>
      <vt:lpstr>Education</vt:lpstr>
      <vt:lpstr>Health</vt:lpstr>
      <vt:lpstr>Global Trade and Logistics</vt:lpstr>
      <vt:lpstr>AI  Accountability and Responsibility</vt:lpstr>
      <vt:lpstr>The Need For AI with Accountability…</vt:lpstr>
      <vt:lpstr>How can AI be accountable - </vt:lpstr>
      <vt:lpstr>What is ML Interpretability</vt:lpstr>
      <vt:lpstr>ML Black and Glass Boxes</vt:lpstr>
      <vt:lpstr>Fundamental Objective of ML Interpretability</vt:lpstr>
      <vt:lpstr>Why ML Interpretability Matters </vt:lpstr>
      <vt:lpstr>How ML Interpretability can be achieved</vt:lpstr>
      <vt:lpstr>Linear Regression and Decision Tree </vt:lpstr>
      <vt:lpstr>Difficulty in some model interpretabilities. </vt:lpstr>
      <vt:lpstr>How ML Interpretability can be achieved in Complex ANN</vt:lpstr>
      <vt:lpstr>Discussion</vt:lpstr>
      <vt:lpstr>Hands-on Demonstration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Interpretable Machine Learning</dc:title>
  <dc:creator>ok</dc:creator>
  <cp:lastModifiedBy>Erica Akanko</cp:lastModifiedBy>
  <cp:revision>25</cp:revision>
  <dcterms:created xsi:type="dcterms:W3CDTF">2026-04-12T07:56:00Z</dcterms:created>
  <dcterms:modified xsi:type="dcterms:W3CDTF">2026-06-21T17:06:43Z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5F6012E5B7B24B9AA95783F8291A1FC0_13</vt:lpwstr>
  </property>
</Properties>
</file>